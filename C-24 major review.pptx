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2"/>
    <p:sldId id="271" r:id="rId3"/>
    <p:sldId id="279" r:id="rId4"/>
    <p:sldId id="257" r:id="rId5"/>
    <p:sldId id="260" r:id="rId6"/>
    <p:sldId id="261" r:id="rId7"/>
    <p:sldId id="262" r:id="rId8"/>
    <p:sldId id="269" r:id="rId9"/>
    <p:sldId id="270" r:id="rId10"/>
    <p:sldId id="295" r:id="rId11"/>
    <p:sldId id="264" r:id="rId12"/>
    <p:sldId id="286" r:id="rId13"/>
    <p:sldId id="266" r:id="rId14"/>
    <p:sldId id="291" r:id="rId15"/>
    <p:sldId id="292" r:id="rId16"/>
    <p:sldId id="282" r:id="rId17"/>
    <p:sldId id="293" r:id="rId18"/>
    <p:sldId id="283" r:id="rId19"/>
    <p:sldId id="289" r:id="rId20"/>
    <p:sldId id="267" r:id="rId21"/>
    <p:sldId id="29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E143E7-A51F-46C2-8A86-6105FC908EED}" v="1173" dt="2026-04-20T17:33:35.96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praja Potluri" userId="1cb264efd0e9b0bc" providerId="LiveId" clId="{D3E143E7-A51F-46C2-8A86-6105FC908EED}"/>
    <pc:docChg chg="undo custSel mod addSld delSld modSld">
      <pc:chgData name="Supraja Potluri" userId="1cb264efd0e9b0bc" providerId="LiveId" clId="{D3E143E7-A51F-46C2-8A86-6105FC908EED}" dt="2026-04-20T17:33:35.961" v="1087" actId="14100"/>
      <pc:docMkLst>
        <pc:docMk/>
      </pc:docMkLst>
      <pc:sldChg chg="modSp">
        <pc:chgData name="Supraja Potluri" userId="1cb264efd0e9b0bc" providerId="LiveId" clId="{D3E143E7-A51F-46C2-8A86-6105FC908EED}" dt="2026-04-20T15:13:48.693" v="823" actId="1076"/>
        <pc:sldMkLst>
          <pc:docMk/>
          <pc:sldMk cId="0" sldId="257"/>
        </pc:sldMkLst>
        <pc:spChg chg="mod">
          <ac:chgData name="Supraja Potluri" userId="1cb264efd0e9b0bc" providerId="LiveId" clId="{D3E143E7-A51F-46C2-8A86-6105FC908EED}" dt="2026-04-20T15:13:48.693" v="823" actId="1076"/>
          <ac:spMkLst>
            <pc:docMk/>
            <pc:sldMk cId="0" sldId="257"/>
            <ac:spMk id="2" creationId="{00000000-0000-0000-0000-000000000000}"/>
          </ac:spMkLst>
        </pc:spChg>
      </pc:sldChg>
      <pc:sldChg chg="modSp">
        <pc:chgData name="Supraja Potluri" userId="1cb264efd0e9b0bc" providerId="LiveId" clId="{D3E143E7-A51F-46C2-8A86-6105FC908EED}" dt="2026-04-20T14:05:49.936" v="169" actId="2711"/>
        <pc:sldMkLst>
          <pc:docMk/>
          <pc:sldMk cId="0" sldId="261"/>
        </pc:sldMkLst>
        <pc:graphicFrameChg chg="mod modGraphic">
          <ac:chgData name="Supraja Potluri" userId="1cb264efd0e9b0bc" providerId="LiveId" clId="{D3E143E7-A51F-46C2-8A86-6105FC908EED}" dt="2026-04-20T14:05:49.936" v="169" actId="2711"/>
          <ac:graphicFrameMkLst>
            <pc:docMk/>
            <pc:sldMk cId="0" sldId="261"/>
            <ac:graphicFrameMk id="4" creationId="{00000000-0000-0000-0000-000000000000}"/>
          </ac:graphicFrameMkLst>
        </pc:graphicFrameChg>
      </pc:sldChg>
      <pc:sldChg chg="modSp">
        <pc:chgData name="Supraja Potluri" userId="1cb264efd0e9b0bc" providerId="LiveId" clId="{D3E143E7-A51F-46C2-8A86-6105FC908EED}" dt="2026-04-20T14:12:12.169" v="212" actId="2711"/>
        <pc:sldMkLst>
          <pc:docMk/>
          <pc:sldMk cId="0" sldId="262"/>
        </pc:sldMkLst>
        <pc:graphicFrameChg chg="mod modGraphic">
          <ac:chgData name="Supraja Potluri" userId="1cb264efd0e9b0bc" providerId="LiveId" clId="{D3E143E7-A51F-46C2-8A86-6105FC908EED}" dt="2026-04-20T14:12:12.169" v="212" actId="2711"/>
          <ac:graphicFrameMkLst>
            <pc:docMk/>
            <pc:sldMk cId="0" sldId="262"/>
            <ac:graphicFrameMk id="2" creationId="{00000000-0000-0000-0000-000000000000}"/>
          </ac:graphicFrameMkLst>
        </pc:graphicFrameChg>
      </pc:sldChg>
      <pc:sldChg chg="modSp">
        <pc:chgData name="Supraja Potluri" userId="1cb264efd0e9b0bc" providerId="LiveId" clId="{D3E143E7-A51F-46C2-8A86-6105FC908EED}" dt="2026-04-12T17:50:37.952" v="0" actId="1076"/>
        <pc:sldMkLst>
          <pc:docMk/>
          <pc:sldMk cId="0" sldId="266"/>
        </pc:sldMkLst>
        <pc:picChg chg="mod">
          <ac:chgData name="Supraja Potluri" userId="1cb264efd0e9b0bc" providerId="LiveId" clId="{D3E143E7-A51F-46C2-8A86-6105FC908EED}" dt="2026-04-12T17:50:37.952" v="0" actId="1076"/>
          <ac:picMkLst>
            <pc:docMk/>
            <pc:sldMk cId="0" sldId="266"/>
            <ac:picMk id="2" creationId="{E22F14B3-DF4D-4F18-8318-D5283BEDE935}"/>
          </ac:picMkLst>
        </pc:picChg>
      </pc:sldChg>
      <pc:sldChg chg="modSp">
        <pc:chgData name="Supraja Potluri" userId="1cb264efd0e9b0bc" providerId="LiveId" clId="{D3E143E7-A51F-46C2-8A86-6105FC908EED}" dt="2026-04-20T14:16:45.298" v="234" actId="255"/>
        <pc:sldMkLst>
          <pc:docMk/>
          <pc:sldMk cId="0" sldId="267"/>
        </pc:sldMkLst>
        <pc:spChg chg="mod">
          <ac:chgData name="Supraja Potluri" userId="1cb264efd0e9b0bc" providerId="LiveId" clId="{D3E143E7-A51F-46C2-8A86-6105FC908EED}" dt="2026-04-20T14:16:18.465" v="231" actId="113"/>
          <ac:spMkLst>
            <pc:docMk/>
            <pc:sldMk cId="0" sldId="267"/>
            <ac:spMk id="2" creationId="{00000000-0000-0000-0000-000000000000}"/>
          </ac:spMkLst>
        </pc:spChg>
        <pc:spChg chg="mod">
          <ac:chgData name="Supraja Potluri" userId="1cb264efd0e9b0bc" providerId="LiveId" clId="{D3E143E7-A51F-46C2-8A86-6105FC908EED}" dt="2026-04-20T14:16:45.298" v="234" actId="255"/>
          <ac:spMkLst>
            <pc:docMk/>
            <pc:sldMk cId="0" sldId="267"/>
            <ac:spMk id="3" creationId="{00000000-0000-0000-0000-000000000000}"/>
          </ac:spMkLst>
        </pc:spChg>
      </pc:sldChg>
      <pc:sldChg chg="modSp">
        <pc:chgData name="Supraja Potluri" userId="1cb264efd0e9b0bc" providerId="LiveId" clId="{D3E143E7-A51F-46C2-8A86-6105FC908EED}" dt="2026-04-17T17:56:21.751" v="50" actId="5793"/>
        <pc:sldMkLst>
          <pc:docMk/>
          <pc:sldMk cId="0" sldId="269"/>
        </pc:sldMkLst>
        <pc:spChg chg="mod">
          <ac:chgData name="Supraja Potluri" userId="1cb264efd0e9b0bc" providerId="LiveId" clId="{D3E143E7-A51F-46C2-8A86-6105FC908EED}" dt="2026-04-17T17:55:12.805" v="39" actId="1076"/>
          <ac:spMkLst>
            <pc:docMk/>
            <pc:sldMk cId="0" sldId="269"/>
            <ac:spMk id="2" creationId="{00000000-0000-0000-0000-000000000000}"/>
          </ac:spMkLst>
        </pc:spChg>
        <pc:spChg chg="mod">
          <ac:chgData name="Supraja Potluri" userId="1cb264efd0e9b0bc" providerId="LiveId" clId="{D3E143E7-A51F-46C2-8A86-6105FC908EED}" dt="2026-04-17T17:56:21.751" v="50" actId="5793"/>
          <ac:spMkLst>
            <pc:docMk/>
            <pc:sldMk cId="0" sldId="269"/>
            <ac:spMk id="3" creationId="{00000000-0000-0000-0000-000000000000}"/>
          </ac:spMkLst>
        </pc:spChg>
      </pc:sldChg>
      <pc:sldChg chg="delSp modSp">
        <pc:chgData name="Supraja Potluri" userId="1cb264efd0e9b0bc" providerId="LiveId" clId="{D3E143E7-A51F-46C2-8A86-6105FC908EED}" dt="2026-04-17T17:56:53.764" v="53" actId="1076"/>
        <pc:sldMkLst>
          <pc:docMk/>
          <pc:sldMk cId="0" sldId="270"/>
        </pc:sldMkLst>
        <pc:spChg chg="del mod">
          <ac:chgData name="Supraja Potluri" userId="1cb264efd0e9b0bc" providerId="LiveId" clId="{D3E143E7-A51F-46C2-8A86-6105FC908EED}" dt="2026-04-17T17:56:32.116" v="51" actId="478"/>
          <ac:spMkLst>
            <pc:docMk/>
            <pc:sldMk cId="0" sldId="270"/>
            <ac:spMk id="2" creationId="{00000000-0000-0000-0000-000000000000}"/>
          </ac:spMkLst>
        </pc:spChg>
        <pc:spChg chg="mod">
          <ac:chgData name="Supraja Potluri" userId="1cb264efd0e9b0bc" providerId="LiveId" clId="{D3E143E7-A51F-46C2-8A86-6105FC908EED}" dt="2026-04-17T17:56:53.764" v="53" actId="1076"/>
          <ac:spMkLst>
            <pc:docMk/>
            <pc:sldMk cId="0" sldId="270"/>
            <ac:spMk id="3" creationId="{00000000-0000-0000-0000-000000000000}"/>
          </ac:spMkLst>
        </pc:spChg>
      </pc:sldChg>
      <pc:sldChg chg="modSp">
        <pc:chgData name="Supraja Potluri" userId="1cb264efd0e9b0bc" providerId="LiveId" clId="{D3E143E7-A51F-46C2-8A86-6105FC908EED}" dt="2026-04-14T15:46:04.588" v="36" actId="20577"/>
        <pc:sldMkLst>
          <pc:docMk/>
          <pc:sldMk cId="0" sldId="271"/>
        </pc:sldMkLst>
        <pc:spChg chg="mod">
          <ac:chgData name="Supraja Potluri" userId="1cb264efd0e9b0bc" providerId="LiveId" clId="{D3E143E7-A51F-46C2-8A86-6105FC908EED}" dt="2026-04-14T15:46:04.588" v="36" actId="20577"/>
          <ac:spMkLst>
            <pc:docMk/>
            <pc:sldMk cId="0" sldId="271"/>
            <ac:spMk id="3" creationId="{00000000-0000-0000-0000-000000000000}"/>
          </ac:spMkLst>
        </pc:spChg>
      </pc:sldChg>
      <pc:sldChg chg="modSp">
        <pc:chgData name="Supraja Potluri" userId="1cb264efd0e9b0bc" providerId="LiveId" clId="{D3E143E7-A51F-46C2-8A86-6105FC908EED}" dt="2026-04-20T14:23:52.049" v="287" actId="20577"/>
        <pc:sldMkLst>
          <pc:docMk/>
          <pc:sldMk cId="0" sldId="279"/>
        </pc:sldMkLst>
        <pc:spChg chg="mod">
          <ac:chgData name="Supraja Potluri" userId="1cb264efd0e9b0bc" providerId="LiveId" clId="{D3E143E7-A51F-46C2-8A86-6105FC908EED}" dt="2026-04-20T14:23:52.049" v="287" actId="20577"/>
          <ac:spMkLst>
            <pc:docMk/>
            <pc:sldMk cId="0" sldId="279"/>
            <ac:spMk id="2" creationId="{00000000-0000-0000-0000-000000000000}"/>
          </ac:spMkLst>
        </pc:spChg>
      </pc:sldChg>
      <pc:sldChg chg="modSp del">
        <pc:chgData name="Supraja Potluri" userId="1cb264efd0e9b0bc" providerId="LiveId" clId="{D3E143E7-A51F-46C2-8A86-6105FC908EED}" dt="2026-04-20T14:26:21.041" v="297" actId="2696"/>
        <pc:sldMkLst>
          <pc:docMk/>
          <pc:sldMk cId="0" sldId="280"/>
        </pc:sldMkLst>
        <pc:spChg chg="mod">
          <ac:chgData name="Supraja Potluri" userId="1cb264efd0e9b0bc" providerId="LiveId" clId="{D3E143E7-A51F-46C2-8A86-6105FC908EED}" dt="2026-04-20T14:26:11.698" v="296" actId="20577"/>
          <ac:spMkLst>
            <pc:docMk/>
            <pc:sldMk cId="0" sldId="280"/>
            <ac:spMk id="2" creationId="{00000000-0000-0000-0000-000000000000}"/>
          </ac:spMkLst>
        </pc:spChg>
      </pc:sldChg>
      <pc:sldChg chg="addSp delSp modSp mod setBg">
        <pc:chgData name="Supraja Potluri" userId="1cb264efd0e9b0bc" providerId="LiveId" clId="{D3E143E7-A51F-46C2-8A86-6105FC908EED}" dt="2026-04-20T17:24:29.632" v="1065" actId="20577"/>
        <pc:sldMkLst>
          <pc:docMk/>
          <pc:sldMk cId="0" sldId="282"/>
        </pc:sldMkLst>
        <pc:spChg chg="del mod">
          <ac:chgData name="Supraja Potluri" userId="1cb264efd0e9b0bc" providerId="LiveId" clId="{D3E143E7-A51F-46C2-8A86-6105FC908EED}" dt="2026-04-20T17:18:43.423" v="974"/>
          <ac:spMkLst>
            <pc:docMk/>
            <pc:sldMk cId="0" sldId="282"/>
            <ac:spMk id="2" creationId="{00000000-0000-0000-0000-000000000000}"/>
          </ac:spMkLst>
        </pc:spChg>
        <pc:spChg chg="add del">
          <ac:chgData name="Supraja Potluri" userId="1cb264efd0e9b0bc" providerId="LiveId" clId="{D3E143E7-A51F-46C2-8A86-6105FC908EED}" dt="2026-04-20T17:18:08.388" v="969" actId="478"/>
          <ac:spMkLst>
            <pc:docMk/>
            <pc:sldMk cId="0" sldId="282"/>
            <ac:spMk id="7" creationId="{8F05B173-15B3-4189-933F-59813A8B00F2}"/>
          </ac:spMkLst>
        </pc:spChg>
        <pc:spChg chg="add del">
          <ac:chgData name="Supraja Potluri" userId="1cb264efd0e9b0bc" providerId="LiveId" clId="{D3E143E7-A51F-46C2-8A86-6105FC908EED}" dt="2026-04-20T17:18:10.379" v="970" actId="478"/>
          <ac:spMkLst>
            <pc:docMk/>
            <pc:sldMk cId="0" sldId="282"/>
            <ac:spMk id="8" creationId="{E4A390CE-B5D4-40EC-91D6-98C37B727C4A}"/>
          </ac:spMkLst>
        </pc:spChg>
        <pc:spChg chg="add mod">
          <ac:chgData name="Supraja Potluri" userId="1cb264efd0e9b0bc" providerId="LiveId" clId="{D3E143E7-A51F-46C2-8A86-6105FC908EED}" dt="2026-04-20T17:23:52.942" v="1057" actId="1076"/>
          <ac:spMkLst>
            <pc:docMk/>
            <pc:sldMk cId="0" sldId="282"/>
            <ac:spMk id="16" creationId="{E5846EAB-25B8-4AF3-9E6F-17FB35A309EB}"/>
          </ac:spMkLst>
        </pc:spChg>
        <pc:spChg chg="add mod">
          <ac:chgData name="Supraja Potluri" userId="1cb264efd0e9b0bc" providerId="LiveId" clId="{D3E143E7-A51F-46C2-8A86-6105FC908EED}" dt="2026-04-20T17:23:47.036" v="1056" actId="1076"/>
          <ac:spMkLst>
            <pc:docMk/>
            <pc:sldMk cId="0" sldId="282"/>
            <ac:spMk id="18" creationId="{4332B553-8BEA-466D-B54F-FA27E8CD9257}"/>
          </ac:spMkLst>
        </pc:spChg>
        <pc:spChg chg="add mod">
          <ac:chgData name="Supraja Potluri" userId="1cb264efd0e9b0bc" providerId="LiveId" clId="{D3E143E7-A51F-46C2-8A86-6105FC908EED}" dt="2026-04-20T17:24:15.473" v="1059" actId="1076"/>
          <ac:spMkLst>
            <pc:docMk/>
            <pc:sldMk cId="0" sldId="282"/>
            <ac:spMk id="20" creationId="{92E083CF-20A5-493E-B60F-800056C336A5}"/>
          </ac:spMkLst>
        </pc:spChg>
        <pc:spChg chg="add del">
          <ac:chgData name="Supraja Potluri" userId="1cb264efd0e9b0bc" providerId="LiveId" clId="{D3E143E7-A51F-46C2-8A86-6105FC908EED}" dt="2026-04-20T17:18:59.622" v="978" actId="26606"/>
          <ac:spMkLst>
            <pc:docMk/>
            <pc:sldMk cId="0" sldId="282"/>
            <ac:spMk id="21" creationId="{417CDA24-35F8-4540-8C52-3096D6D94949}"/>
          </ac:spMkLst>
        </pc:spChg>
        <pc:spChg chg="add del">
          <ac:chgData name="Supraja Potluri" userId="1cb264efd0e9b0bc" providerId="LiveId" clId="{D3E143E7-A51F-46C2-8A86-6105FC908EED}" dt="2026-04-20T17:18:59.622" v="978" actId="26606"/>
          <ac:spMkLst>
            <pc:docMk/>
            <pc:sldMk cId="0" sldId="282"/>
            <ac:spMk id="22" creationId="{8658BFE0-4E65-4174-9C75-687C94E88273}"/>
          </ac:spMkLst>
        </pc:spChg>
        <pc:spChg chg="add del">
          <ac:chgData name="Supraja Potluri" userId="1cb264efd0e9b0bc" providerId="LiveId" clId="{D3E143E7-A51F-46C2-8A86-6105FC908EED}" dt="2026-04-20T17:18:59.622" v="978" actId="26606"/>
          <ac:spMkLst>
            <pc:docMk/>
            <pc:sldMk cId="0" sldId="282"/>
            <ac:spMk id="23" creationId="{FA75DFED-A0C1-4A83-BE1D-0271C1826EF6}"/>
          </ac:spMkLst>
        </pc:spChg>
        <pc:spChg chg="add mod">
          <ac:chgData name="Supraja Potluri" userId="1cb264efd0e9b0bc" providerId="LiveId" clId="{D3E143E7-A51F-46C2-8A86-6105FC908EED}" dt="2026-04-20T17:21:42.674" v="1029" actId="1076"/>
          <ac:spMkLst>
            <pc:docMk/>
            <pc:sldMk cId="0" sldId="282"/>
            <ac:spMk id="24" creationId="{DAA9B233-C6D5-4F23-B6B4-0811D9F65869}"/>
          </ac:spMkLst>
        </pc:spChg>
        <pc:spChg chg="add mod">
          <ac:chgData name="Supraja Potluri" userId="1cb264efd0e9b0bc" providerId="LiveId" clId="{D3E143E7-A51F-46C2-8A86-6105FC908EED}" dt="2026-04-20T17:24:29.632" v="1065" actId="20577"/>
          <ac:spMkLst>
            <pc:docMk/>
            <pc:sldMk cId="0" sldId="282"/>
            <ac:spMk id="28" creationId="{37B719D7-33EC-4250-9FC5-B4DE2E880F47}"/>
          </ac:spMkLst>
        </pc:spChg>
        <pc:picChg chg="add del">
          <ac:chgData name="Supraja Potluri" userId="1cb264efd0e9b0bc" providerId="LiveId" clId="{D3E143E7-A51F-46C2-8A86-6105FC908EED}" dt="2026-04-20T17:22:50.468" v="1040" actId="478"/>
          <ac:picMkLst>
            <pc:docMk/>
            <pc:sldMk cId="0" sldId="282"/>
            <ac:picMk id="3" creationId="{3701110C-345C-4494-9985-76598F17359C}"/>
          </ac:picMkLst>
        </pc:picChg>
        <pc:picChg chg="add mod ord">
          <ac:chgData name="Supraja Potluri" userId="1cb264efd0e9b0bc" providerId="LiveId" clId="{D3E143E7-A51F-46C2-8A86-6105FC908EED}" dt="2026-04-20T17:21:14.406" v="1021" actId="1076"/>
          <ac:picMkLst>
            <pc:docMk/>
            <pc:sldMk cId="0" sldId="282"/>
            <ac:picMk id="4" creationId="{4829CAB7-D5E4-4F98-9FD7-F4D9F5B9B542}"/>
          </ac:picMkLst>
        </pc:picChg>
        <pc:picChg chg="del mod">
          <ac:chgData name="Supraja Potluri" userId="1cb264efd0e9b0bc" providerId="LiveId" clId="{D3E143E7-A51F-46C2-8A86-6105FC908EED}" dt="2026-04-20T17:15:15.718" v="946"/>
          <ac:picMkLst>
            <pc:docMk/>
            <pc:sldMk cId="0" sldId="282"/>
            <ac:picMk id="5" creationId="{00000000-0000-0000-0000-000000000000}"/>
          </ac:picMkLst>
        </pc:picChg>
        <pc:picChg chg="add mod">
          <ac:chgData name="Supraja Potluri" userId="1cb264efd0e9b0bc" providerId="LiveId" clId="{D3E143E7-A51F-46C2-8A86-6105FC908EED}" dt="2026-04-20T17:21:33.559" v="1027" actId="1076"/>
          <ac:picMkLst>
            <pc:docMk/>
            <pc:sldMk cId="0" sldId="282"/>
            <ac:picMk id="6" creationId="{6F86B4EE-3AB3-45D9-AE74-6592CC707504}"/>
          </ac:picMkLst>
        </pc:picChg>
        <pc:picChg chg="del">
          <ac:chgData name="Supraja Potluri" userId="1cb264efd0e9b0bc" providerId="LiveId" clId="{D3E143E7-A51F-46C2-8A86-6105FC908EED}" dt="2026-04-20T15:04:04.750" v="662"/>
          <ac:picMkLst>
            <pc:docMk/>
            <pc:sldMk cId="0" sldId="282"/>
            <ac:picMk id="7" creationId="{00000000-0000-0000-0000-000000000000}"/>
          </ac:picMkLst>
        </pc:picChg>
        <pc:picChg chg="add mod ord">
          <ac:chgData name="Supraja Potluri" userId="1cb264efd0e9b0bc" providerId="LiveId" clId="{D3E143E7-A51F-46C2-8A86-6105FC908EED}" dt="2026-04-20T17:20:45.333" v="1013" actId="14100"/>
          <ac:picMkLst>
            <pc:docMk/>
            <pc:sldMk cId="0" sldId="282"/>
            <ac:picMk id="9" creationId="{94B1001C-28E5-4BAC-B533-DEA11D02A571}"/>
          </ac:picMkLst>
        </pc:picChg>
        <pc:picChg chg="add mod">
          <ac:chgData name="Supraja Potluri" userId="1cb264efd0e9b0bc" providerId="LiveId" clId="{D3E143E7-A51F-46C2-8A86-6105FC908EED}" dt="2026-04-20T17:21:03.788" v="1018" actId="14100"/>
          <ac:picMkLst>
            <pc:docMk/>
            <pc:sldMk cId="0" sldId="282"/>
            <ac:picMk id="10" creationId="{7CCDB88A-DC67-48C6-B35D-D1984869B0FC}"/>
          </ac:picMkLst>
        </pc:picChg>
        <pc:picChg chg="add del mod">
          <ac:chgData name="Supraja Potluri" userId="1cb264efd0e9b0bc" providerId="LiveId" clId="{D3E143E7-A51F-46C2-8A86-6105FC908EED}" dt="2026-04-20T17:22:48.170" v="1039" actId="478"/>
          <ac:picMkLst>
            <pc:docMk/>
            <pc:sldMk cId="0" sldId="282"/>
            <ac:picMk id="11" creationId="{2AC14B99-F4CA-48B8-B6AD-24366CE1F0B1}"/>
          </ac:picMkLst>
        </pc:picChg>
        <pc:cxnChg chg="add del">
          <ac:chgData name="Supraja Potluri" userId="1cb264efd0e9b0bc" providerId="LiveId" clId="{D3E143E7-A51F-46C2-8A86-6105FC908EED}" dt="2026-04-20T17:20:36.015" v="1009" actId="26606"/>
          <ac:cxnSpMkLst>
            <pc:docMk/>
            <pc:sldMk cId="0" sldId="282"/>
            <ac:cxnSpMk id="12" creationId="{91B6081D-D3E8-4209-B85B-EB1C655A6272}"/>
          </ac:cxnSpMkLst>
        </pc:cxnChg>
        <pc:cxnChg chg="add del">
          <ac:chgData name="Supraja Potluri" userId="1cb264efd0e9b0bc" providerId="LiveId" clId="{D3E143E7-A51F-46C2-8A86-6105FC908EED}" dt="2026-04-20T17:20:36.015" v="1009" actId="26606"/>
          <ac:cxnSpMkLst>
            <pc:docMk/>
            <pc:sldMk cId="0" sldId="282"/>
            <ac:cxnSpMk id="13" creationId="{28CA55E4-1295-45C8-BA05-5A9E705B749A}"/>
          </ac:cxnSpMkLst>
        </pc:cxnChg>
        <pc:cxnChg chg="add del">
          <ac:chgData name="Supraja Potluri" userId="1cb264efd0e9b0bc" providerId="LiveId" clId="{D3E143E7-A51F-46C2-8A86-6105FC908EED}" dt="2026-04-20T17:20:36.015" v="1009" actId="26606"/>
          <ac:cxnSpMkLst>
            <pc:docMk/>
            <pc:sldMk cId="0" sldId="282"/>
            <ac:cxnSpMk id="14" creationId="{08C5794E-A9A1-4A23-AF68-C79A7822334C}"/>
          </ac:cxnSpMkLst>
        </pc:cxnChg>
        <pc:cxnChg chg="add del">
          <ac:chgData name="Supraja Potluri" userId="1cb264efd0e9b0bc" providerId="LiveId" clId="{D3E143E7-A51F-46C2-8A86-6105FC908EED}" dt="2026-04-20T17:18:52.682" v="976" actId="26606"/>
          <ac:cxnSpMkLst>
            <pc:docMk/>
            <pc:sldMk cId="0" sldId="282"/>
            <ac:cxnSpMk id="15" creationId="{91B6081D-D3E8-4209-B85B-EB1C655A6272}"/>
          </ac:cxnSpMkLst>
        </pc:cxnChg>
        <pc:cxnChg chg="add del">
          <ac:chgData name="Supraja Potluri" userId="1cb264efd0e9b0bc" providerId="LiveId" clId="{D3E143E7-A51F-46C2-8A86-6105FC908EED}" dt="2026-04-20T17:18:52.682" v="976" actId="26606"/>
          <ac:cxnSpMkLst>
            <pc:docMk/>
            <pc:sldMk cId="0" sldId="282"/>
            <ac:cxnSpMk id="17" creationId="{28CA55E4-1295-45C8-BA05-5A9E705B749A}"/>
          </ac:cxnSpMkLst>
        </pc:cxnChg>
        <pc:cxnChg chg="add del">
          <ac:chgData name="Supraja Potluri" userId="1cb264efd0e9b0bc" providerId="LiveId" clId="{D3E143E7-A51F-46C2-8A86-6105FC908EED}" dt="2026-04-20T17:18:52.682" v="976" actId="26606"/>
          <ac:cxnSpMkLst>
            <pc:docMk/>
            <pc:sldMk cId="0" sldId="282"/>
            <ac:cxnSpMk id="19" creationId="{08C5794E-A9A1-4A23-AF68-C79A7822334C}"/>
          </ac:cxnSpMkLst>
        </pc:cxnChg>
        <pc:cxnChg chg="add del">
          <ac:chgData name="Supraja Potluri" userId="1cb264efd0e9b0bc" providerId="LiveId" clId="{D3E143E7-A51F-46C2-8A86-6105FC908EED}" dt="2026-04-20T17:19:42.213" v="994" actId="26606"/>
          <ac:cxnSpMkLst>
            <pc:docMk/>
            <pc:sldMk cId="0" sldId="282"/>
            <ac:cxnSpMk id="25" creationId="{91B6081D-D3E8-4209-B85B-EB1C655A6272}"/>
          </ac:cxnSpMkLst>
        </pc:cxnChg>
        <pc:cxnChg chg="add del">
          <ac:chgData name="Supraja Potluri" userId="1cb264efd0e9b0bc" providerId="LiveId" clId="{D3E143E7-A51F-46C2-8A86-6105FC908EED}" dt="2026-04-20T17:19:42.213" v="994" actId="26606"/>
          <ac:cxnSpMkLst>
            <pc:docMk/>
            <pc:sldMk cId="0" sldId="282"/>
            <ac:cxnSpMk id="26" creationId="{28CA55E4-1295-45C8-BA05-5A9E705B749A}"/>
          </ac:cxnSpMkLst>
        </pc:cxnChg>
        <pc:cxnChg chg="add del">
          <ac:chgData name="Supraja Potluri" userId="1cb264efd0e9b0bc" providerId="LiveId" clId="{D3E143E7-A51F-46C2-8A86-6105FC908EED}" dt="2026-04-20T17:19:42.213" v="994" actId="26606"/>
          <ac:cxnSpMkLst>
            <pc:docMk/>
            <pc:sldMk cId="0" sldId="282"/>
            <ac:cxnSpMk id="27" creationId="{08C5794E-A9A1-4A23-AF68-C79A7822334C}"/>
          </ac:cxnSpMkLst>
        </pc:cxnChg>
      </pc:sldChg>
      <pc:sldChg chg="addSp delSp modSp">
        <pc:chgData name="Supraja Potluri" userId="1cb264efd0e9b0bc" providerId="LiveId" clId="{D3E143E7-A51F-46C2-8A86-6105FC908EED}" dt="2026-04-20T17:33:35.961" v="1087" actId="14100"/>
        <pc:sldMkLst>
          <pc:docMk/>
          <pc:sldMk cId="0" sldId="283"/>
        </pc:sldMkLst>
        <pc:spChg chg="add mod">
          <ac:chgData name="Supraja Potluri" userId="1cb264efd0e9b0bc" providerId="LiveId" clId="{D3E143E7-A51F-46C2-8A86-6105FC908EED}" dt="2026-04-20T17:26:07.271" v="1081" actId="14100"/>
          <ac:spMkLst>
            <pc:docMk/>
            <pc:sldMk cId="0" sldId="283"/>
            <ac:spMk id="2" creationId="{CDD1B4DE-75A3-43D5-88ED-1F1B0FE5F802}"/>
          </ac:spMkLst>
        </pc:spChg>
        <pc:spChg chg="mod">
          <ac:chgData name="Supraja Potluri" userId="1cb264efd0e9b0bc" providerId="LiveId" clId="{D3E143E7-A51F-46C2-8A86-6105FC908EED}" dt="2026-04-20T17:25:37.932" v="1073" actId="1076"/>
          <ac:spMkLst>
            <pc:docMk/>
            <pc:sldMk cId="0" sldId="283"/>
            <ac:spMk id="4" creationId="{00000000-0000-0000-0000-000000000000}"/>
          </ac:spMkLst>
        </pc:spChg>
        <pc:spChg chg="mod">
          <ac:chgData name="Supraja Potluri" userId="1cb264efd0e9b0bc" providerId="LiveId" clId="{D3E143E7-A51F-46C2-8A86-6105FC908EED}" dt="2026-04-20T17:26:42.347" v="1085" actId="1076"/>
          <ac:spMkLst>
            <pc:docMk/>
            <pc:sldMk cId="0" sldId="283"/>
            <ac:spMk id="5" creationId="{00000000-0000-0000-0000-000000000000}"/>
          </ac:spMkLst>
        </pc:spChg>
        <pc:spChg chg="add del mod">
          <ac:chgData name="Supraja Potluri" userId="1cb264efd0e9b0bc" providerId="LiveId" clId="{D3E143E7-A51F-46C2-8A86-6105FC908EED}" dt="2026-04-20T15:07:09.603" v="785"/>
          <ac:spMkLst>
            <pc:docMk/>
            <pc:sldMk cId="0" sldId="283"/>
            <ac:spMk id="7" creationId="{3C437175-A533-4324-BEC0-A08100BC0A8B}"/>
          </ac:spMkLst>
        </pc:spChg>
        <pc:spChg chg="add del mod">
          <ac:chgData name="Supraja Potluri" userId="1cb264efd0e9b0bc" providerId="LiveId" clId="{D3E143E7-A51F-46C2-8A86-6105FC908EED}" dt="2026-04-20T15:07:05.549" v="780"/>
          <ac:spMkLst>
            <pc:docMk/>
            <pc:sldMk cId="0" sldId="283"/>
            <ac:spMk id="8" creationId="{98053BDB-2060-4D26-8B52-0D5682A83E04}"/>
          </ac:spMkLst>
        </pc:spChg>
        <pc:spChg chg="add del">
          <ac:chgData name="Supraja Potluri" userId="1cb264efd0e9b0bc" providerId="LiveId" clId="{D3E143E7-A51F-46C2-8A86-6105FC908EED}" dt="2026-04-20T15:06:50.191" v="773"/>
          <ac:spMkLst>
            <pc:docMk/>
            <pc:sldMk cId="0" sldId="283"/>
            <ac:spMk id="9" creationId="{4B5E93ED-95F2-4AA7-9652-59F4788A7A36}"/>
          </ac:spMkLst>
        </pc:spChg>
        <pc:picChg chg="add mod">
          <ac:chgData name="Supraja Potluri" userId="1cb264efd0e9b0bc" providerId="LiveId" clId="{D3E143E7-A51F-46C2-8A86-6105FC908EED}" dt="2026-04-20T17:25:55.400" v="1077" actId="1076"/>
          <ac:picMkLst>
            <pc:docMk/>
            <pc:sldMk cId="0" sldId="283"/>
            <ac:picMk id="6" creationId="{501297FE-6831-4588-BCB1-6E17A361415C}"/>
          </ac:picMkLst>
        </pc:picChg>
        <pc:picChg chg="add mod">
          <ac:chgData name="Supraja Potluri" userId="1cb264efd0e9b0bc" providerId="LiveId" clId="{D3E143E7-A51F-46C2-8A86-6105FC908EED}" dt="2026-04-20T17:33:35.961" v="1087" actId="14100"/>
          <ac:picMkLst>
            <pc:docMk/>
            <pc:sldMk cId="0" sldId="283"/>
            <ac:picMk id="7" creationId="{E2E2C9F3-466E-4EFC-820B-FA173F7379DB}"/>
          </ac:picMkLst>
        </pc:picChg>
      </pc:sldChg>
      <pc:sldChg chg="modSp">
        <pc:chgData name="Supraja Potluri" userId="1cb264efd0e9b0bc" providerId="LiveId" clId="{D3E143E7-A51F-46C2-8A86-6105FC908EED}" dt="2026-04-14T15:43:58.716" v="1" actId="20577"/>
        <pc:sldMkLst>
          <pc:docMk/>
          <pc:sldMk cId="0" sldId="286"/>
        </pc:sldMkLst>
        <pc:spChg chg="mod">
          <ac:chgData name="Supraja Potluri" userId="1cb264efd0e9b0bc" providerId="LiveId" clId="{D3E143E7-A51F-46C2-8A86-6105FC908EED}" dt="2026-04-14T15:43:58.716" v="1" actId="20577"/>
          <ac:spMkLst>
            <pc:docMk/>
            <pc:sldMk cId="0" sldId="286"/>
            <ac:spMk id="4" creationId="{00000000-0000-0000-0000-000000000000}"/>
          </ac:spMkLst>
        </pc:spChg>
      </pc:sldChg>
      <pc:sldChg chg="modSp del">
        <pc:chgData name="Supraja Potluri" userId="1cb264efd0e9b0bc" providerId="LiveId" clId="{D3E143E7-A51F-46C2-8A86-6105FC908EED}" dt="2026-04-20T17:26:17.084" v="1082" actId="2696"/>
        <pc:sldMkLst>
          <pc:docMk/>
          <pc:sldMk cId="0" sldId="288"/>
        </pc:sldMkLst>
        <pc:spChg chg="mod">
          <ac:chgData name="Supraja Potluri" userId="1cb264efd0e9b0bc" providerId="LiveId" clId="{D3E143E7-A51F-46C2-8A86-6105FC908EED}" dt="2026-04-17T18:00:54.044" v="56" actId="2711"/>
          <ac:spMkLst>
            <pc:docMk/>
            <pc:sldMk cId="0" sldId="288"/>
            <ac:spMk id="3" creationId="{9444F160-1615-4FB4-B165-8D21B0A455AA}"/>
          </ac:spMkLst>
        </pc:spChg>
      </pc:sldChg>
      <pc:sldChg chg="addSp delSp modSp add">
        <pc:chgData name="Supraja Potluri" userId="1cb264efd0e9b0bc" providerId="LiveId" clId="{D3E143E7-A51F-46C2-8A86-6105FC908EED}" dt="2026-04-20T14:21:56.740" v="271" actId="12"/>
        <pc:sldMkLst>
          <pc:docMk/>
          <pc:sldMk cId="2655762466" sldId="289"/>
        </pc:sldMkLst>
        <pc:spChg chg="add mod">
          <ac:chgData name="Supraja Potluri" userId="1cb264efd0e9b0bc" providerId="LiveId" clId="{D3E143E7-A51F-46C2-8A86-6105FC908EED}" dt="2026-04-17T18:06:17.208" v="120" actId="20577"/>
          <ac:spMkLst>
            <pc:docMk/>
            <pc:sldMk cId="2655762466" sldId="289"/>
            <ac:spMk id="2" creationId="{6C11D214-4FFC-44B6-9F70-61493C7F5754}"/>
          </ac:spMkLst>
        </pc:spChg>
        <pc:spChg chg="add del mod">
          <ac:chgData name="Supraja Potluri" userId="1cb264efd0e9b0bc" providerId="LiveId" clId="{D3E143E7-A51F-46C2-8A86-6105FC908EED}" dt="2026-04-20T14:21:56.740" v="271" actId="12"/>
          <ac:spMkLst>
            <pc:docMk/>
            <pc:sldMk cId="2655762466" sldId="289"/>
            <ac:spMk id="3" creationId="{C8F38683-4240-4F16-AE0D-1B7275B4D183}"/>
          </ac:spMkLst>
        </pc:spChg>
        <pc:spChg chg="add del">
          <ac:chgData name="Supraja Potluri" userId="1cb264efd0e9b0bc" providerId="LiveId" clId="{D3E143E7-A51F-46C2-8A86-6105FC908EED}" dt="2026-04-20T14:20:39.107" v="244"/>
          <ac:spMkLst>
            <pc:docMk/>
            <pc:sldMk cId="2655762466" sldId="289"/>
            <ac:spMk id="4" creationId="{CF58C048-A161-48F3-9B83-DF58E30921F1}"/>
          </ac:spMkLst>
        </pc:spChg>
        <pc:spChg chg="add del mod">
          <ac:chgData name="Supraja Potluri" userId="1cb264efd0e9b0bc" providerId="LiveId" clId="{D3E143E7-A51F-46C2-8A86-6105FC908EED}" dt="2026-04-20T14:20:53.704" v="253"/>
          <ac:spMkLst>
            <pc:docMk/>
            <pc:sldMk cId="2655762466" sldId="289"/>
            <ac:spMk id="5" creationId="{C39E7A54-956B-4E14-BEB9-E3A8547B1569}"/>
          </ac:spMkLst>
        </pc:spChg>
        <pc:spChg chg="add del">
          <ac:chgData name="Supraja Potluri" userId="1cb264efd0e9b0bc" providerId="LiveId" clId="{D3E143E7-A51F-46C2-8A86-6105FC908EED}" dt="2026-04-20T14:21:31.454" v="263" actId="478"/>
          <ac:spMkLst>
            <pc:docMk/>
            <pc:sldMk cId="2655762466" sldId="289"/>
            <ac:spMk id="6" creationId="{8BBEC9FF-8CD2-4B5D-8E86-98A55E74E13E}"/>
          </ac:spMkLst>
        </pc:spChg>
      </pc:sldChg>
      <pc:sldChg chg="addSp modSp add">
        <pc:chgData name="Supraja Potluri" userId="1cb264efd0e9b0bc" providerId="LiveId" clId="{D3E143E7-A51F-46C2-8A86-6105FC908EED}" dt="2026-04-20T14:17:18.923" v="242" actId="1076"/>
        <pc:sldMkLst>
          <pc:docMk/>
          <pc:sldMk cId="3863270054" sldId="290"/>
        </pc:sldMkLst>
        <pc:spChg chg="add mod">
          <ac:chgData name="Supraja Potluri" userId="1cb264efd0e9b0bc" providerId="LiveId" clId="{D3E143E7-A51F-46C2-8A86-6105FC908EED}" dt="2026-04-20T14:17:18.923" v="242" actId="1076"/>
          <ac:spMkLst>
            <pc:docMk/>
            <pc:sldMk cId="3863270054" sldId="290"/>
            <ac:spMk id="2" creationId="{2638D208-9193-4C83-9724-8481F053416F}"/>
          </ac:spMkLst>
        </pc:spChg>
      </pc:sldChg>
      <pc:sldChg chg="addSp delSp modSp add">
        <pc:chgData name="Supraja Potluri" userId="1cb264efd0e9b0bc" providerId="LiveId" clId="{D3E143E7-A51F-46C2-8A86-6105FC908EED}" dt="2026-04-20T14:56:17.797" v="639" actId="20577"/>
        <pc:sldMkLst>
          <pc:docMk/>
          <pc:sldMk cId="811451721" sldId="291"/>
        </pc:sldMkLst>
        <pc:spChg chg="add mod">
          <ac:chgData name="Supraja Potluri" userId="1cb264efd0e9b0bc" providerId="LiveId" clId="{D3E143E7-A51F-46C2-8A86-6105FC908EED}" dt="2026-04-20T14:56:17.797" v="639" actId="20577"/>
          <ac:spMkLst>
            <pc:docMk/>
            <pc:sldMk cId="811451721" sldId="291"/>
            <ac:spMk id="2" creationId="{B919A179-61D8-4D92-89CE-6A2F3A689B37}"/>
          </ac:spMkLst>
        </pc:spChg>
        <pc:spChg chg="add mod">
          <ac:chgData name="Supraja Potluri" userId="1cb264efd0e9b0bc" providerId="LiveId" clId="{D3E143E7-A51F-46C2-8A86-6105FC908EED}" dt="2026-04-20T14:52:49.706" v="596" actId="1076"/>
          <ac:spMkLst>
            <pc:docMk/>
            <pc:sldMk cId="811451721" sldId="291"/>
            <ac:spMk id="3" creationId="{2C97D8E4-C83D-411D-A996-F3421EFFBB67}"/>
          </ac:spMkLst>
        </pc:spChg>
        <pc:spChg chg="add del mod">
          <ac:chgData name="Supraja Potluri" userId="1cb264efd0e9b0bc" providerId="LiveId" clId="{D3E143E7-A51F-46C2-8A86-6105FC908EED}" dt="2026-04-20T14:29:02.687" v="303" actId="478"/>
          <ac:spMkLst>
            <pc:docMk/>
            <pc:sldMk cId="811451721" sldId="291"/>
            <ac:spMk id="4" creationId="{32C62377-C188-4155-B94A-932AC90139DC}"/>
          </ac:spMkLst>
        </pc:spChg>
      </pc:sldChg>
      <pc:sldChg chg="addSp delSp modSp add">
        <pc:chgData name="Supraja Potluri" userId="1cb264efd0e9b0bc" providerId="LiveId" clId="{D3E143E7-A51F-46C2-8A86-6105FC908EED}" dt="2026-04-20T14:55:58.693" v="633" actId="2710"/>
        <pc:sldMkLst>
          <pc:docMk/>
          <pc:sldMk cId="244442096" sldId="292"/>
        </pc:sldMkLst>
        <pc:spChg chg="add del mod">
          <ac:chgData name="Supraja Potluri" userId="1cb264efd0e9b0bc" providerId="LiveId" clId="{D3E143E7-A51F-46C2-8A86-6105FC908EED}" dt="2026-04-20T14:31:47.221" v="326"/>
          <ac:spMkLst>
            <pc:docMk/>
            <pc:sldMk cId="244442096" sldId="292"/>
            <ac:spMk id="2" creationId="{CF8A063F-198B-40D2-B733-A44D21866722}"/>
          </ac:spMkLst>
        </pc:spChg>
        <pc:spChg chg="add del mod">
          <ac:chgData name="Supraja Potluri" userId="1cb264efd0e9b0bc" providerId="LiveId" clId="{D3E143E7-A51F-46C2-8A86-6105FC908EED}" dt="2026-04-20T14:31:47.221" v="326"/>
          <ac:spMkLst>
            <pc:docMk/>
            <pc:sldMk cId="244442096" sldId="292"/>
            <ac:spMk id="3" creationId="{AC098512-02CF-4DF5-8587-EECA53969473}"/>
          </ac:spMkLst>
        </pc:spChg>
        <pc:spChg chg="add del mod">
          <ac:chgData name="Supraja Potluri" userId="1cb264efd0e9b0bc" providerId="LiveId" clId="{D3E143E7-A51F-46C2-8A86-6105FC908EED}" dt="2026-04-20T14:31:47.221" v="326"/>
          <ac:spMkLst>
            <pc:docMk/>
            <pc:sldMk cId="244442096" sldId="292"/>
            <ac:spMk id="4" creationId="{9FCE12DB-648E-44A5-BBBC-4A69CF156E75}"/>
          </ac:spMkLst>
        </pc:spChg>
        <pc:spChg chg="add del mod">
          <ac:chgData name="Supraja Potluri" userId="1cb264efd0e9b0bc" providerId="LiveId" clId="{D3E143E7-A51F-46C2-8A86-6105FC908EED}" dt="2026-04-20T14:31:44.665" v="324"/>
          <ac:spMkLst>
            <pc:docMk/>
            <pc:sldMk cId="244442096" sldId="292"/>
            <ac:spMk id="5" creationId="{9321FA6C-7D6E-47A8-B926-FB6F154B7AA6}"/>
          </ac:spMkLst>
        </pc:spChg>
        <pc:spChg chg="add del mod">
          <ac:chgData name="Supraja Potluri" userId="1cb264efd0e9b0bc" providerId="LiveId" clId="{D3E143E7-A51F-46C2-8A86-6105FC908EED}" dt="2026-04-20T14:31:39.650" v="321"/>
          <ac:spMkLst>
            <pc:docMk/>
            <pc:sldMk cId="244442096" sldId="292"/>
            <ac:spMk id="6" creationId="{3FA8F4EE-CC2A-4945-8161-8F18D98182DD}"/>
          </ac:spMkLst>
        </pc:spChg>
        <pc:spChg chg="add mod">
          <ac:chgData name="Supraja Potluri" userId="1cb264efd0e9b0bc" providerId="LiveId" clId="{D3E143E7-A51F-46C2-8A86-6105FC908EED}" dt="2026-04-20T14:55:58.693" v="633" actId="2710"/>
          <ac:spMkLst>
            <pc:docMk/>
            <pc:sldMk cId="244442096" sldId="292"/>
            <ac:spMk id="7" creationId="{163923C1-1670-4331-8416-AB007C1E1C72}"/>
          </ac:spMkLst>
        </pc:spChg>
      </pc:sldChg>
      <pc:sldChg chg="addSp delSp modSp add mod setBg">
        <pc:chgData name="Supraja Potluri" userId="1cb264efd0e9b0bc" providerId="LiveId" clId="{D3E143E7-A51F-46C2-8A86-6105FC908EED}" dt="2026-04-20T17:16:17.059" v="956" actId="26606"/>
        <pc:sldMkLst>
          <pc:docMk/>
          <pc:sldMk cId="2549068806" sldId="293"/>
        </pc:sldMkLst>
        <pc:spChg chg="add del">
          <ac:chgData name="Supraja Potluri" userId="1cb264efd0e9b0bc" providerId="LiveId" clId="{D3E143E7-A51F-46C2-8A86-6105FC908EED}" dt="2026-04-20T17:16:17.059" v="955" actId="26606"/>
          <ac:spMkLst>
            <pc:docMk/>
            <pc:sldMk cId="2549068806" sldId="293"/>
            <ac:spMk id="6" creationId="{799448F2-0E5B-42DA-B2D1-11A14E947BD4}"/>
          </ac:spMkLst>
        </pc:spChg>
        <pc:spChg chg="add del">
          <ac:chgData name="Supraja Potluri" userId="1cb264efd0e9b0bc" providerId="LiveId" clId="{D3E143E7-A51F-46C2-8A86-6105FC908EED}" dt="2026-04-20T17:16:17.059" v="955" actId="26606"/>
          <ac:spMkLst>
            <pc:docMk/>
            <pc:sldMk cId="2549068806" sldId="293"/>
            <ac:spMk id="7" creationId="{4E8A7552-20E1-4F34-ADAB-C1DB6634D47E}"/>
          </ac:spMkLst>
        </pc:spChg>
        <pc:spChg chg="add del">
          <ac:chgData name="Supraja Potluri" userId="1cb264efd0e9b0bc" providerId="LiveId" clId="{D3E143E7-A51F-46C2-8A86-6105FC908EED}" dt="2026-04-20T15:03:14.040" v="647" actId="26606"/>
          <ac:spMkLst>
            <pc:docMk/>
            <pc:sldMk cId="2549068806" sldId="293"/>
            <ac:spMk id="8" creationId="{A9F529C3-C941-49FD-8C67-82F134F64BDB}"/>
          </ac:spMkLst>
        </pc:spChg>
        <pc:spChg chg="add del">
          <ac:chgData name="Supraja Potluri" userId="1cb264efd0e9b0bc" providerId="LiveId" clId="{D3E143E7-A51F-46C2-8A86-6105FC908EED}" dt="2026-04-20T15:03:14.040" v="647" actId="26606"/>
          <ac:spMkLst>
            <pc:docMk/>
            <pc:sldMk cId="2549068806" sldId="293"/>
            <ac:spMk id="10" creationId="{20586029-32A0-47E5-9AEC-AE3ABA6B94D0}"/>
          </ac:spMkLst>
        </pc:spChg>
        <pc:spChg chg="add del">
          <ac:chgData name="Supraja Potluri" userId="1cb264efd0e9b0bc" providerId="LiveId" clId="{D3E143E7-A51F-46C2-8A86-6105FC908EED}" dt="2026-04-20T17:15:49.106" v="953" actId="26606"/>
          <ac:spMkLst>
            <pc:docMk/>
            <pc:sldMk cId="2549068806" sldId="293"/>
            <ac:spMk id="13" creationId="{262ABC4B-37D8-4218-BDD8-6DF6A00C0C80}"/>
          </ac:spMkLst>
        </pc:spChg>
        <pc:spChg chg="add">
          <ac:chgData name="Supraja Potluri" userId="1cb264efd0e9b0bc" providerId="LiveId" clId="{D3E143E7-A51F-46C2-8A86-6105FC908EED}" dt="2026-04-20T17:16:17.059" v="956" actId="26606"/>
          <ac:spMkLst>
            <pc:docMk/>
            <pc:sldMk cId="2549068806" sldId="293"/>
            <ac:spMk id="14" creationId="{7F23EF37-19EC-4973-A7AF-4BBF68646D7D}"/>
          </ac:spMkLst>
        </pc:spChg>
        <pc:picChg chg="add mod ord">
          <ac:chgData name="Supraja Potluri" userId="1cb264efd0e9b0bc" providerId="LiveId" clId="{D3E143E7-A51F-46C2-8A86-6105FC908EED}" dt="2026-04-20T17:16:17.059" v="956" actId="26606"/>
          <ac:picMkLst>
            <pc:docMk/>
            <pc:sldMk cId="2549068806" sldId="293"/>
            <ac:picMk id="2" creationId="{2266CC12-E63D-4FDA-9EDA-0FBF99CA8233}"/>
          </ac:picMkLst>
        </pc:picChg>
        <pc:picChg chg="add mod">
          <ac:chgData name="Supraja Potluri" userId="1cb264efd0e9b0bc" providerId="LiveId" clId="{D3E143E7-A51F-46C2-8A86-6105FC908EED}" dt="2026-04-20T17:16:17.059" v="956" actId="26606"/>
          <ac:picMkLst>
            <pc:docMk/>
            <pc:sldMk cId="2549068806" sldId="293"/>
            <ac:picMk id="3" creationId="{B52240A3-FB93-418B-AD06-8C587797272D}"/>
          </ac:picMkLst>
        </pc:picChg>
        <pc:picChg chg="add mod ord">
          <ac:chgData name="Supraja Potluri" userId="1cb264efd0e9b0bc" providerId="LiveId" clId="{D3E143E7-A51F-46C2-8A86-6105FC908EED}" dt="2026-04-20T17:16:17.059" v="956" actId="26606"/>
          <ac:picMkLst>
            <pc:docMk/>
            <pc:sldMk cId="2549068806" sldId="293"/>
            <ac:picMk id="4" creationId="{94726FD0-A8A4-4C26-9524-7826C792EC3E}"/>
          </ac:picMkLst>
        </pc:picChg>
        <pc:cxnChg chg="add del">
          <ac:chgData name="Supraja Potluri" userId="1cb264efd0e9b0bc" providerId="LiveId" clId="{D3E143E7-A51F-46C2-8A86-6105FC908EED}" dt="2026-04-20T17:15:28.361" v="949" actId="26606"/>
          <ac:cxnSpMkLst>
            <pc:docMk/>
            <pc:sldMk cId="2549068806" sldId="293"/>
            <ac:cxnSpMk id="9" creationId="{DCD67800-37AC-4E14-89B0-F79DCB3FB86D}"/>
          </ac:cxnSpMkLst>
        </pc:cxnChg>
        <pc:cxnChg chg="add del">
          <ac:chgData name="Supraja Potluri" userId="1cb264efd0e9b0bc" providerId="LiveId" clId="{D3E143E7-A51F-46C2-8A86-6105FC908EED}" dt="2026-04-20T17:15:28.361" v="949" actId="26606"/>
          <ac:cxnSpMkLst>
            <pc:docMk/>
            <pc:sldMk cId="2549068806" sldId="293"/>
            <ac:cxnSpMk id="11" creationId="{20F1788F-A5AE-4188-8274-F7F2E3833ECD}"/>
          </ac:cxnSpMkLst>
        </pc:cxnChg>
        <pc:cxnChg chg="add del">
          <ac:chgData name="Supraja Potluri" userId="1cb264efd0e9b0bc" providerId="LiveId" clId="{D3E143E7-A51F-46C2-8A86-6105FC908EED}" dt="2026-04-20T15:03:14.040" v="647" actId="26606"/>
          <ac:cxnSpMkLst>
            <pc:docMk/>
            <pc:sldMk cId="2549068806" sldId="293"/>
            <ac:cxnSpMk id="12" creationId="{8C730EAB-A532-4295-A302-FB4B90DB9F5E}"/>
          </ac:cxnSpMkLst>
        </pc:cxnChg>
      </pc:sldChg>
      <pc:sldChg chg="add del">
        <pc:chgData name="Supraja Potluri" userId="1cb264efd0e9b0bc" providerId="LiveId" clId="{D3E143E7-A51F-46C2-8A86-6105FC908EED}" dt="2026-04-20T16:56:45.360" v="826" actId="2696"/>
        <pc:sldMkLst>
          <pc:docMk/>
          <pc:sldMk cId="281208131" sldId="294"/>
        </pc:sldMkLst>
      </pc:sldChg>
      <pc:sldChg chg="addSp delSp modSp add">
        <pc:chgData name="Supraja Potluri" userId="1cb264efd0e9b0bc" providerId="LiveId" clId="{D3E143E7-A51F-46C2-8A86-6105FC908EED}" dt="2026-04-20T17:13:56.792" v="944" actId="1076"/>
        <pc:sldMkLst>
          <pc:docMk/>
          <pc:sldMk cId="2449789565" sldId="295"/>
        </pc:sldMkLst>
        <pc:spChg chg="add mod topLvl">
          <ac:chgData name="Supraja Potluri" userId="1cb264efd0e9b0bc" providerId="LiveId" clId="{D3E143E7-A51F-46C2-8A86-6105FC908EED}" dt="2026-04-20T17:13:19.515" v="938" actId="1076"/>
          <ac:spMkLst>
            <pc:docMk/>
            <pc:sldMk cId="2449789565" sldId="295"/>
            <ac:spMk id="2" creationId="{161EEEC5-9AED-4285-9E10-0DC92519C5C5}"/>
          </ac:spMkLst>
        </pc:spChg>
        <pc:spChg chg="add del mod topLvl">
          <ac:chgData name="Supraja Potluri" userId="1cb264efd0e9b0bc" providerId="LiveId" clId="{D3E143E7-A51F-46C2-8A86-6105FC908EED}" dt="2026-04-20T17:10:53.920" v="914" actId="478"/>
          <ac:spMkLst>
            <pc:docMk/>
            <pc:sldMk cId="2449789565" sldId="295"/>
            <ac:spMk id="3" creationId="{C9361C24-46E4-4F22-AAE9-C81583644066}"/>
          </ac:spMkLst>
        </pc:spChg>
        <pc:spChg chg="add del mod">
          <ac:chgData name="Supraja Potluri" userId="1cb264efd0e9b0bc" providerId="LiveId" clId="{D3E143E7-A51F-46C2-8A86-6105FC908EED}" dt="2026-04-20T16:59:50.243" v="839"/>
          <ac:spMkLst>
            <pc:docMk/>
            <pc:sldMk cId="2449789565" sldId="295"/>
            <ac:spMk id="4" creationId="{FAC9EC56-739D-4A0E-83BD-AA9C587FD9B2}"/>
          </ac:spMkLst>
        </pc:spChg>
        <pc:spChg chg="add del">
          <ac:chgData name="Supraja Potluri" userId="1cb264efd0e9b0bc" providerId="LiveId" clId="{D3E143E7-A51F-46C2-8A86-6105FC908EED}" dt="2026-04-20T17:00:04.646" v="842"/>
          <ac:spMkLst>
            <pc:docMk/>
            <pc:sldMk cId="2449789565" sldId="295"/>
            <ac:spMk id="5" creationId="{657433AF-47DC-4A3C-A21B-B902B3779398}"/>
          </ac:spMkLst>
        </pc:spChg>
        <pc:spChg chg="add del">
          <ac:chgData name="Supraja Potluri" userId="1cb264efd0e9b0bc" providerId="LiveId" clId="{D3E143E7-A51F-46C2-8A86-6105FC908EED}" dt="2026-04-20T17:00:09.336" v="846"/>
          <ac:spMkLst>
            <pc:docMk/>
            <pc:sldMk cId="2449789565" sldId="295"/>
            <ac:spMk id="6" creationId="{6B9E5CA4-19BA-4385-9F24-4063F88CD309}"/>
          </ac:spMkLst>
        </pc:spChg>
        <pc:spChg chg="add del mod topLvl">
          <ac:chgData name="Supraja Potluri" userId="1cb264efd0e9b0bc" providerId="LiveId" clId="{D3E143E7-A51F-46C2-8A86-6105FC908EED}" dt="2026-04-20T17:10:06.255" v="906"/>
          <ac:spMkLst>
            <pc:docMk/>
            <pc:sldMk cId="2449789565" sldId="295"/>
            <ac:spMk id="7" creationId="{7E38DA35-75BB-45EC-9936-37E1DAD4EE53}"/>
          </ac:spMkLst>
        </pc:spChg>
        <pc:spChg chg="add mod">
          <ac:chgData name="Supraja Potluri" userId="1cb264efd0e9b0bc" providerId="LiveId" clId="{D3E143E7-A51F-46C2-8A86-6105FC908EED}" dt="2026-04-20T17:13:10.296" v="937" actId="255"/>
          <ac:spMkLst>
            <pc:docMk/>
            <pc:sldMk cId="2449789565" sldId="295"/>
            <ac:spMk id="12" creationId="{AC84B9FE-A959-4D50-95EF-26B56CB68927}"/>
          </ac:spMkLst>
        </pc:spChg>
        <pc:spChg chg="add mod">
          <ac:chgData name="Supraja Potluri" userId="1cb264efd0e9b0bc" providerId="LiveId" clId="{D3E143E7-A51F-46C2-8A86-6105FC908EED}" dt="2026-04-20T17:13:56.792" v="944" actId="1076"/>
          <ac:spMkLst>
            <pc:docMk/>
            <pc:sldMk cId="2449789565" sldId="295"/>
            <ac:spMk id="13" creationId="{6A7A8BC3-6F34-45B5-8BCF-A954B92A95B2}"/>
          </ac:spMkLst>
        </pc:spChg>
        <pc:grpChg chg="add del mod">
          <ac:chgData name="Supraja Potluri" userId="1cb264efd0e9b0bc" providerId="LiveId" clId="{D3E143E7-A51F-46C2-8A86-6105FC908EED}" dt="2026-04-20T17:07:16.594" v="880" actId="165"/>
          <ac:grpSpMkLst>
            <pc:docMk/>
            <pc:sldMk cId="2449789565" sldId="295"/>
            <ac:grpSpMk id="8" creationId="{4F2EB2A7-E6DA-4E65-85A0-B71F6AE461DE}"/>
          </ac:grpSpMkLst>
        </pc:grpChg>
        <pc:picChg chg="add del mod">
          <ac:chgData name="Supraja Potluri" userId="1cb264efd0e9b0bc" providerId="LiveId" clId="{D3E143E7-A51F-46C2-8A86-6105FC908EED}" dt="2026-04-20T17:10:15.820" v="910"/>
          <ac:picMkLst>
            <pc:docMk/>
            <pc:sldMk cId="2449789565" sldId="295"/>
            <ac:picMk id="11" creationId="{2671451E-C7A7-4A41-AF86-47701A57D99F}"/>
          </ac:picMkLst>
        </pc:picChg>
        <pc:cxnChg chg="add mod">
          <ac:chgData name="Supraja Potluri" userId="1cb264efd0e9b0bc" providerId="LiveId" clId="{D3E143E7-A51F-46C2-8A86-6105FC908EED}" dt="2026-04-20T17:11:25.347" v="921" actId="14100"/>
          <ac:cxnSpMkLst>
            <pc:docMk/>
            <pc:sldMk cId="2449789565" sldId="295"/>
            <ac:cxnSpMk id="10" creationId="{79F43F3B-4B4D-4CED-A79C-F048B43AE39D}"/>
          </ac:cxnSpMkLst>
        </pc:cxnChg>
      </pc:sldChg>
      <pc:sldChg chg="add del">
        <pc:chgData name="Supraja Potluri" userId="1cb264efd0e9b0bc" providerId="LiveId" clId="{D3E143E7-A51F-46C2-8A86-6105FC908EED}" dt="2026-04-20T17:24:54.119" v="1066" actId="2696"/>
        <pc:sldMkLst>
          <pc:docMk/>
          <pc:sldMk cId="0" sldId="296"/>
        </pc:sldMkLst>
      </pc:sldChg>
      <pc:sldChg chg="addSp modSp add del">
        <pc:chgData name="Supraja Potluri" userId="1cb264efd0e9b0bc" providerId="LiveId" clId="{D3E143E7-A51F-46C2-8A86-6105FC908EED}" dt="2026-04-20T17:14:28.912" v="945" actId="2696"/>
        <pc:sldMkLst>
          <pc:docMk/>
          <pc:sldMk cId="2430357667" sldId="296"/>
        </pc:sldMkLst>
        <pc:spChg chg="add mod">
          <ac:chgData name="Supraja Potluri" userId="1cb264efd0e9b0bc" providerId="LiveId" clId="{D3E143E7-A51F-46C2-8A86-6105FC908EED}" dt="2026-04-20T16:58:35.519" v="835" actId="20577"/>
          <ac:spMkLst>
            <pc:docMk/>
            <pc:sldMk cId="2430357667" sldId="296"/>
            <ac:spMk id="2" creationId="{3E5DF1E6-0B1E-46BE-B4A4-10B122E7CB9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75E45EB-003A-4A13-97AD-0D3B59DFC3AC}"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10E74C-950D-41F2-8C36-F06B181BB42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5E45EB-003A-4A13-97AD-0D3B59DFC3AC}"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10E74C-950D-41F2-8C36-F06B181BB42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5E45EB-003A-4A13-97AD-0D3B59DFC3AC}"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10E74C-950D-41F2-8C36-F06B181BB42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5E45EB-003A-4A13-97AD-0D3B59DFC3AC}"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10E74C-950D-41F2-8C36-F06B181BB42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5E45EB-003A-4A13-97AD-0D3B59DFC3AC}"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10E74C-950D-41F2-8C36-F06B181BB42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5E45EB-003A-4A13-97AD-0D3B59DFC3AC}"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10E74C-950D-41F2-8C36-F06B181BB42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5E45EB-003A-4A13-97AD-0D3B59DFC3AC}"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10E74C-950D-41F2-8C36-F06B181BB42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75E45EB-003A-4A13-97AD-0D3B59DFC3AC}"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10E74C-950D-41F2-8C36-F06B181BB42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75E45EB-003A-4A13-97AD-0D3B59DFC3AC}"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10E74C-950D-41F2-8C36-F06B181BB42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5E45EB-003A-4A13-97AD-0D3B59DFC3AC}"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10E74C-950D-41F2-8C36-F06B181BB42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5E45EB-003A-4A13-97AD-0D3B59DFC3AC}"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10E74C-950D-41F2-8C36-F06B181BB4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5E45EB-003A-4A13-97AD-0D3B59DFC3AC}" type="datetimeFigureOut">
              <a:rPr lang="en-US" smtClean="0"/>
              <a:t>4/20/2026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10E74C-950D-41F2-8C36-F06B181BB42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03327" y="1622073"/>
            <a:ext cx="7278873" cy="838200"/>
          </a:xfrm>
        </p:spPr>
        <p:txBody>
          <a:bodyPr>
            <a:noAutofit/>
          </a:bodyPr>
          <a:lstStyle/>
          <a:p>
            <a:br>
              <a:rPr lang="en-US" altLang="en-US" sz="2400" b="1" dirty="0">
                <a:latin typeface="Times New Roman" panose="02020603050405020304" pitchFamily="18" charset="0"/>
                <a:cs typeface="Times New Roman" panose="02020603050405020304" pitchFamily="18" charset="0"/>
              </a:rPr>
            </a:br>
            <a:br>
              <a:rPr lang="en-US" altLang="en-US" sz="2400" b="1" dirty="0">
                <a:latin typeface="Times New Roman" panose="02020603050405020304" pitchFamily="18" charset="0"/>
                <a:cs typeface="Times New Roman" panose="02020603050405020304" pitchFamily="18" charset="0"/>
              </a:rPr>
            </a:br>
            <a:r>
              <a:rPr lang="en-US" altLang="en-US" sz="2400" b="1" dirty="0">
                <a:latin typeface="Times New Roman" panose="02020603050405020304" pitchFamily="18" charset="0"/>
                <a:cs typeface="Times New Roman" panose="02020603050405020304" pitchFamily="18" charset="0"/>
              </a:rPr>
              <a:t>An Attention-Based CNN-Transformer Network for ECG Beat Classification Using Multi-Lead Signals</a:t>
            </a:r>
          </a:p>
        </p:txBody>
      </p:sp>
      <p:sp>
        <p:nvSpPr>
          <p:cNvPr id="3" name="Subtitle 2"/>
          <p:cNvSpPr>
            <a:spLocks noGrp="1"/>
          </p:cNvSpPr>
          <p:nvPr>
            <p:ph type="subTitle" idx="1"/>
          </p:nvPr>
        </p:nvSpPr>
        <p:spPr>
          <a:xfrm>
            <a:off x="2057400" y="3733800"/>
            <a:ext cx="8153401" cy="1752600"/>
          </a:xfrm>
        </p:spPr>
        <p:txBody>
          <a:bodyPr>
            <a:noAutofit/>
          </a:bodyPr>
          <a:lstStyle/>
          <a:p>
            <a:r>
              <a:rPr lang="en-US" b="1" dirty="0">
                <a:latin typeface="Times New Roman" panose="02020603050405020304" pitchFamily="18" charset="0"/>
                <a:cs typeface="Times New Roman" panose="02020603050405020304" pitchFamily="18" charset="0"/>
              </a:rPr>
              <a:t>Presented by</a:t>
            </a:r>
            <a:endParaRPr lang="en-US" b="1" dirty="0">
              <a:solidFill>
                <a:srgbClr val="7030A0"/>
              </a:solidFill>
              <a:latin typeface="Times New Roman" panose="02020603050405020304" pitchFamily="18" charset="0"/>
              <a:cs typeface="Times New Roman" panose="02020603050405020304" pitchFamily="18" charset="0"/>
            </a:endParaRPr>
          </a:p>
          <a:p>
            <a:r>
              <a:rPr lang="en-US" b="1" dirty="0">
                <a:solidFill>
                  <a:srgbClr val="7030A0"/>
                </a:solidFill>
                <a:latin typeface="Times New Roman" panose="02020603050405020304" pitchFamily="18" charset="0"/>
                <a:cs typeface="Times New Roman" panose="02020603050405020304" pitchFamily="18" charset="0"/>
              </a:rPr>
              <a:t>Ms. Kavya Sri </a:t>
            </a:r>
            <a:r>
              <a:rPr lang="en-US" b="1" dirty="0" err="1">
                <a:solidFill>
                  <a:srgbClr val="7030A0"/>
                </a:solidFill>
                <a:latin typeface="Times New Roman" panose="02020603050405020304" pitchFamily="18" charset="0"/>
                <a:cs typeface="Times New Roman" panose="02020603050405020304" pitchFamily="18" charset="0"/>
              </a:rPr>
              <a:t>Pasupuleti</a:t>
            </a:r>
            <a:r>
              <a:rPr lang="en-US" b="1" dirty="0">
                <a:solidFill>
                  <a:srgbClr val="7030A0"/>
                </a:solidFill>
                <a:latin typeface="Times New Roman" panose="02020603050405020304" pitchFamily="18" charset="0"/>
                <a:cs typeface="Times New Roman" panose="02020603050405020304" pitchFamily="18" charset="0"/>
              </a:rPr>
              <a:t> (228W1A12H9)</a:t>
            </a:r>
          </a:p>
          <a:p>
            <a:r>
              <a:rPr lang="en-US" b="1" dirty="0">
                <a:solidFill>
                  <a:srgbClr val="7030A0"/>
                </a:solidFill>
                <a:latin typeface="Times New Roman" panose="02020603050405020304" pitchFamily="18" charset="0"/>
                <a:cs typeface="Times New Roman" panose="02020603050405020304" pitchFamily="18" charset="0"/>
              </a:rPr>
              <a:t>Ms. Supraja Potluri (228W1A12I3)</a:t>
            </a:r>
            <a:endParaRPr lang="en-US" dirty="0">
              <a:latin typeface="Times New Roman" panose="02020603050405020304" pitchFamily="18" charset="0"/>
              <a:cs typeface="Times New Roman" panose="02020603050405020304" pitchFamily="18" charset="0"/>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31513"/>
            <a:ext cx="1636527" cy="866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descr="Image result for vrse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129633"/>
            <a:ext cx="1068572" cy="124196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837329" y="817215"/>
            <a:ext cx="6517342" cy="758857"/>
          </a:xfrm>
          <a:prstGeom prst="rect">
            <a:avLst/>
          </a:prstGeom>
          <a:noFill/>
        </p:spPr>
        <p:txBody>
          <a:bodyPr wrap="square" lIns="19998" tIns="9999" rIns="19998" bIns="9999" rtlCol="0">
            <a:spAutoFit/>
          </a:bodyPr>
          <a:lstStyle/>
          <a:p>
            <a:pPr algn="ctr"/>
            <a:r>
              <a:rPr lang="en-IN" sz="2400" b="1" dirty="0">
                <a:solidFill>
                  <a:srgbClr val="3333FF"/>
                </a:solidFill>
                <a:latin typeface="Times New Roman" panose="02020603050405020304" pitchFamily="18" charset="0"/>
                <a:cs typeface="Times New Roman" panose="02020603050405020304" pitchFamily="18" charset="0"/>
              </a:rPr>
              <a:t>VR SIDDHARTHA ENGINEERING COLLEGE </a:t>
            </a:r>
          </a:p>
          <a:p>
            <a:pPr algn="ctr"/>
            <a:r>
              <a:rPr lang="en-IN" sz="2400" b="1" dirty="0">
                <a:solidFill>
                  <a:srgbClr val="FF0000"/>
                </a:solidFill>
                <a:latin typeface="Times New Roman" panose="02020603050405020304" pitchFamily="18" charset="0"/>
                <a:cs typeface="Times New Roman" panose="02020603050405020304" pitchFamily="18" charset="0"/>
              </a:rPr>
              <a:t>Department of Information Technology</a:t>
            </a:r>
          </a:p>
        </p:txBody>
      </p:sp>
      <p:sp>
        <p:nvSpPr>
          <p:cNvPr id="8" name="TextBox 7"/>
          <p:cNvSpPr txBox="1"/>
          <p:nvPr/>
        </p:nvSpPr>
        <p:spPr>
          <a:xfrm>
            <a:off x="3561020" y="2658537"/>
            <a:ext cx="5257800" cy="829945"/>
          </a:xfrm>
          <a:prstGeom prst="rect">
            <a:avLst/>
          </a:prstGeom>
          <a:noFill/>
        </p:spPr>
        <p:txBody>
          <a:bodyPr wrap="square" rtlCol="0">
            <a:sp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B.Tech in Information Technology</a:t>
            </a:r>
          </a:p>
          <a:p>
            <a:pPr algn="ctr"/>
            <a:r>
              <a:rPr lang="en-US" sz="2400" b="1" dirty="0">
                <a:solidFill>
                  <a:srgbClr val="BF11A6"/>
                </a:solidFill>
                <a:latin typeface="Times New Roman" panose="02020603050405020304" pitchFamily="18" charset="0"/>
                <a:cs typeface="Times New Roman" panose="02020603050405020304" pitchFamily="18" charset="0"/>
              </a:rPr>
              <a:t>Major Project Review Presentation</a:t>
            </a:r>
          </a:p>
        </p:txBody>
      </p:sp>
      <p:sp>
        <p:nvSpPr>
          <p:cNvPr id="4" name="Rectangle 3"/>
          <p:cNvSpPr/>
          <p:nvPr/>
        </p:nvSpPr>
        <p:spPr>
          <a:xfrm>
            <a:off x="3255645" y="5605780"/>
            <a:ext cx="6228080" cy="829945"/>
          </a:xfrm>
          <a:prstGeom prst="rect">
            <a:avLst/>
          </a:prstGeom>
        </p:spPr>
        <p:txBody>
          <a:bodyPr wrap="square">
            <a:spAutoFit/>
          </a:bodyPr>
          <a:lstStyle/>
          <a:p>
            <a:pPr algn="ctr"/>
            <a:r>
              <a:rPr lang="en-US" sz="2400" b="1" dirty="0">
                <a:latin typeface="Times New Roman" panose="02020603050405020304" pitchFamily="18" charset="0"/>
                <a:cs typeface="Times New Roman" panose="02020603050405020304" pitchFamily="18" charset="0"/>
              </a:rPr>
              <a:t>Under the guidance of </a:t>
            </a:r>
          </a:p>
          <a:p>
            <a:pPr algn="ctr"/>
            <a:r>
              <a:rPr lang="en-US" sz="2400" b="1" dirty="0">
                <a:solidFill>
                  <a:srgbClr val="FF0000"/>
                </a:solidFill>
                <a:latin typeface="Times New Roman" panose="02020603050405020304" pitchFamily="18" charset="0"/>
                <a:cs typeface="Times New Roman" panose="02020603050405020304" pitchFamily="18" charset="0"/>
              </a:rPr>
              <a:t>Dr. C. S. Pavan Kumar, Sr. Asst.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089015" cy="370840"/>
          </a:xfrm>
        </p:spPr>
        <p:txBody>
          <a:bodyPr>
            <a:normAutofit fontScale="90000"/>
          </a:bodyPr>
          <a:lstStyle/>
          <a:p>
            <a:r>
              <a:rPr lang="en-US" sz="3200" b="1">
                <a:latin typeface="Times New Roman" panose="02020603050405020304" pitchFamily="18" charset="0"/>
                <a:cs typeface="Times New Roman" panose="02020603050405020304" pitchFamily="18" charset="0"/>
              </a:rPr>
              <a:t>Agenda</a:t>
            </a:r>
          </a:p>
        </p:txBody>
      </p:sp>
      <p:sp>
        <p:nvSpPr>
          <p:cNvPr id="3" name="Content Placeholder 2"/>
          <p:cNvSpPr>
            <a:spLocks noGrp="1"/>
          </p:cNvSpPr>
          <p:nvPr>
            <p:ph idx="1"/>
          </p:nvPr>
        </p:nvSpPr>
        <p:spPr>
          <a:xfrm>
            <a:off x="838200" y="814705"/>
            <a:ext cx="10515600" cy="5841365"/>
          </a:xfrm>
        </p:spPr>
        <p:txBody>
          <a:bodyPr>
            <a:noAutofit/>
          </a:bodyPr>
          <a:lstStyle/>
          <a:p>
            <a:pPr>
              <a:lnSpc>
                <a:spcPct val="150000"/>
              </a:lnSpc>
            </a:pPr>
            <a:r>
              <a:rPr lang="en-US" sz="2000" dirty="0">
                <a:latin typeface="Times New Roman" panose="02020603050405020304" pitchFamily="18" charset="0"/>
                <a:cs typeface="Times New Roman" panose="02020603050405020304" pitchFamily="18" charset="0"/>
              </a:rPr>
              <a:t>Motivation</a:t>
            </a:r>
          </a:p>
          <a:p>
            <a:pPr>
              <a:lnSpc>
                <a:spcPct val="150000"/>
              </a:lnSpc>
            </a:pPr>
            <a:r>
              <a:rPr lang="en-US" sz="2000" dirty="0">
                <a:latin typeface="Times New Roman" panose="02020603050405020304" pitchFamily="18" charset="0"/>
                <a:cs typeface="Times New Roman" panose="02020603050405020304" pitchFamily="18" charset="0"/>
                <a:sym typeface="+mn-ea"/>
              </a:rPr>
              <a:t>Problem Statement</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sym typeface="+mn-ea"/>
              </a:rPr>
              <a:t>Objectives and Outcomes of the Project</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sym typeface="+mn-ea"/>
              </a:rPr>
              <a:t>Literature Summary</a:t>
            </a:r>
            <a:endParaRPr lang="en-US" sz="2000" dirty="0">
              <a:latin typeface="Times New Roman" panose="02020603050405020304" pitchFamily="18" charset="0"/>
              <a:cs typeface="Times New Roman" panose="02020603050405020304" pitchFamily="18" charset="0"/>
            </a:endParaRPr>
          </a:p>
          <a:p>
            <a:pPr>
              <a:lnSpc>
                <a:spcPct val="150000"/>
              </a:lnSpc>
            </a:pPr>
            <a:r>
              <a:rPr lang="en-US" altLang="en-US" sz="2000" dirty="0">
                <a:latin typeface="Times New Roman" panose="02020603050405020304" pitchFamily="18" charset="0"/>
                <a:cs typeface="Times New Roman" panose="02020603050405020304" pitchFamily="18" charset="0"/>
                <a:sym typeface="+mn-ea"/>
              </a:rPr>
              <a:t>Datasets and Requirements</a:t>
            </a:r>
          </a:p>
          <a:p>
            <a:pPr>
              <a:lnSpc>
                <a:spcPct val="150000"/>
              </a:lnSpc>
            </a:pPr>
            <a:r>
              <a:rPr lang="en-US" sz="2000" dirty="0">
                <a:latin typeface="Times New Roman" panose="02020603050405020304" pitchFamily="18" charset="0"/>
                <a:cs typeface="Times New Roman" panose="02020603050405020304" pitchFamily="18" charset="0"/>
                <a:sym typeface="+mn-ea"/>
              </a:rPr>
              <a:t>Methadology and Algorithms Involved</a:t>
            </a:r>
          </a:p>
          <a:p>
            <a:pPr>
              <a:lnSpc>
                <a:spcPct val="150000"/>
              </a:lnSpc>
            </a:pPr>
            <a:r>
              <a:rPr lang="en-US" sz="2000" dirty="0">
                <a:latin typeface="Times New Roman" panose="02020603050405020304" pitchFamily="18" charset="0"/>
                <a:cs typeface="Times New Roman" panose="02020603050405020304" pitchFamily="18" charset="0"/>
              </a:rPr>
              <a:t>Architecture Diagram</a:t>
            </a:r>
          </a:p>
          <a:p>
            <a:pPr>
              <a:lnSpc>
                <a:spcPct val="150000"/>
              </a:lnSpc>
            </a:pPr>
            <a:r>
              <a:rPr lang="en-US" sz="2000" dirty="0">
                <a:latin typeface="Times New Roman" panose="02020603050405020304" pitchFamily="18" charset="0"/>
                <a:cs typeface="Times New Roman" panose="02020603050405020304" pitchFamily="18" charset="0"/>
              </a:rPr>
              <a:t>Complete Results Obtained</a:t>
            </a:r>
          </a:p>
          <a:p>
            <a:pPr>
              <a:lnSpc>
                <a:spcPct val="150000"/>
              </a:lnSpc>
            </a:pPr>
            <a:r>
              <a:rPr lang="en-IN" sz="2000" dirty="0">
                <a:latin typeface="Times New Roman" panose="02020603050405020304" pitchFamily="18" charset="0"/>
                <a:cs typeface="Times New Roman" panose="02020603050405020304" pitchFamily="18" charset="0"/>
              </a:rPr>
              <a:t>R</a:t>
            </a:r>
            <a:r>
              <a:rPr lang="en-US" sz="2000" dirty="0" err="1">
                <a:latin typeface="Times New Roman" panose="02020603050405020304" pitchFamily="18" charset="0"/>
                <a:cs typeface="Times New Roman" panose="02020603050405020304" pitchFamily="18" charset="0"/>
              </a:rPr>
              <a:t>esult</a:t>
            </a:r>
            <a:r>
              <a:rPr lang="en-US" sz="2000" dirty="0">
                <a:latin typeface="Times New Roman" panose="02020603050405020304" pitchFamily="18" charset="0"/>
                <a:cs typeface="Times New Roman" panose="02020603050405020304" pitchFamily="18" charset="0"/>
              </a:rPr>
              <a:t> Analysis &amp; Observations</a:t>
            </a:r>
          </a:p>
          <a:p>
            <a:pPr>
              <a:lnSpc>
                <a:spcPct val="150000"/>
              </a:lnSpc>
            </a:pPr>
            <a:r>
              <a:rPr lang="en-GB" sz="2000" dirty="0">
                <a:latin typeface="Times New Roman" panose="02020603050405020304" pitchFamily="18" charset="0"/>
                <a:cs typeface="Times New Roman" panose="02020603050405020304" pitchFamily="18" charset="0"/>
                <a:sym typeface="+mn-ea"/>
              </a:rPr>
              <a:t>References </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78155" y="622433"/>
            <a:ext cx="11235690" cy="5871210"/>
          </a:xfrm>
          <a:prstGeom prst="rect">
            <a:avLst/>
          </a:prstGeom>
          <a:noFill/>
        </p:spPr>
        <p:txBody>
          <a:bodyPr wrap="square" rtlCol="0">
            <a:noAutofit/>
          </a:bodyPr>
          <a:lstStyle/>
          <a:p>
            <a:r>
              <a:rPr lang="en-US" sz="3200" b="1" dirty="0">
                <a:latin typeface="Times New Roman" panose="02020603050405020304" pitchFamily="18" charset="0"/>
                <a:cs typeface="Times New Roman" panose="02020603050405020304" pitchFamily="18" charset="0"/>
              </a:rPr>
              <a:t>Introduction</a:t>
            </a:r>
          </a:p>
          <a:p>
            <a:endParaRPr lang="en-US" sz="3200" b="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Cardiovascular diseases are one of the leading causes of death worldwide.</a:t>
            </a:r>
          </a:p>
          <a:p>
            <a:pPr marL="342900"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ECG is one of the most widely used tools for detecting heart abnormalities.</a:t>
            </a:r>
          </a:p>
          <a:p>
            <a:pPr marL="342900"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Manual ECG interpretation is time-consuming and depends heavily on expert knowledge.</a:t>
            </a:r>
          </a:p>
          <a:p>
            <a:pPr marL="342900"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An automated ECG classification system can support faster and more reliable diagnosis.</a:t>
            </a:r>
          </a:p>
          <a:p>
            <a:pPr indent="0" algn="just">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a:p>
            <a:pPr algn="l"/>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7105" y="364791"/>
            <a:ext cx="10560050" cy="6128418"/>
          </a:xfrm>
          <a:prstGeom prst="rect">
            <a:avLst/>
          </a:prstGeom>
          <a:noFill/>
        </p:spPr>
        <p:txBody>
          <a:bodyPr wrap="square" rtlCol="0">
            <a:noAutofit/>
          </a:bodyPr>
          <a:lstStyle/>
          <a:p>
            <a:pPr algn="just">
              <a:lnSpc>
                <a:spcPct val="200000"/>
              </a:lnSpc>
            </a:pPr>
            <a:r>
              <a:rPr lang="en-US" sz="3200" b="1" dirty="0">
                <a:latin typeface="Times New Roman" panose="02020603050405020304" pitchFamily="18" charset="0"/>
                <a:cs typeface="Times New Roman" panose="02020603050405020304" pitchFamily="18" charset="0"/>
              </a:rPr>
              <a:t>Problem Statement</a:t>
            </a:r>
          </a:p>
          <a:p>
            <a:pPr marL="342900" indent="-342900" algn="just">
              <a:lnSpc>
                <a:spcPct val="10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Manual ECG interpretation is time-consuming, requires expert knowledge, and may lead to human errors. </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Existing automated methods rely on handcrafted features or single-lead ECG, limiting accuracy.</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Difficulty in capturing both local waveform patterns and long-range temporal dependencies in ECG signals.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Need for an efficient automated system that accurately classifies multi-lead ECG signals using advanced deep learning techniques.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3903" y="375285"/>
            <a:ext cx="11029950" cy="6107430"/>
          </a:xfrm>
          <a:prstGeom prst="rect">
            <a:avLst/>
          </a:prstGeom>
          <a:noFill/>
        </p:spPr>
        <p:txBody>
          <a:bodyPr wrap="square" rtlCol="0">
            <a:noAutofit/>
          </a:bodyPr>
          <a:lstStyle/>
          <a:p>
            <a:pPr algn="just"/>
            <a:r>
              <a:rPr lang="en-US" sz="3200" b="1" dirty="0">
                <a:latin typeface="Times New Roman" panose="02020603050405020304" pitchFamily="18" charset="0"/>
                <a:cs typeface="Times New Roman" panose="02020603050405020304" pitchFamily="18" charset="0"/>
              </a:rPr>
              <a:t>Objectives and Outcomes</a:t>
            </a:r>
            <a:endParaRPr lang="en-US" sz="3200"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    Objectives:</a:t>
            </a:r>
            <a:endParaRPr lang="en-US" sz="2400" dirty="0">
              <a:latin typeface="Times New Roman" panose="02020603050405020304" pitchFamily="18" charset="0"/>
              <a:cs typeface="Times New Roman" panose="02020603050405020304" pitchFamily="18" charset="0"/>
            </a:endParaRPr>
          </a:p>
          <a:p>
            <a:pPr marL="800100" lvl="1"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To use multi-lead ECG signals for better diagnostic representation.</a:t>
            </a:r>
          </a:p>
          <a:p>
            <a:pPr marL="800100" lvl="1"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To perform R-peak detection and beat segmentation from raw ECG data.</a:t>
            </a:r>
          </a:p>
          <a:p>
            <a:pPr marL="800100" lvl="1"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To classify ECG beats into CD, HYP, MI, NORM, and STTC classes.</a:t>
            </a:r>
          </a:p>
          <a:p>
            <a:pPr marL="800100" lvl="1"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To improve classification performance using CNN + Transformer + Attention.</a:t>
            </a:r>
          </a:p>
          <a:p>
            <a:pPr lvl="1" indent="0" algn="just">
              <a:lnSpc>
                <a:spcPct val="150000"/>
              </a:lnSpc>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Outcomes:</a:t>
            </a:r>
          </a:p>
          <a:p>
            <a:pPr marL="800100" lvl="1"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 Successfully extracted beat-level ECG samples from PTB-XL dataset.</a:t>
            </a:r>
          </a:p>
          <a:p>
            <a:pPr marL="800100" lvl="1"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 Developed a deep learning model for multi-class ECG classification.</a:t>
            </a:r>
          </a:p>
          <a:p>
            <a:pPr marL="800100" lvl="1"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 Achieved 97.06% test accuracy.</a:t>
            </a:r>
          </a:p>
          <a:p>
            <a:pPr marL="800100" lvl="1" indent="-342900" algn="just">
              <a:lnSpc>
                <a:spcPct val="15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 Generated performance metrics and visual result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5088" y="321458"/>
            <a:ext cx="4195483"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Literature Summary</a:t>
            </a:r>
            <a:endParaRPr lang="en-US" sz="32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397075777"/>
              </p:ext>
            </p:extLst>
          </p:nvPr>
        </p:nvGraphicFramePr>
        <p:xfrm>
          <a:off x="0" y="1191002"/>
          <a:ext cx="12192000" cy="5086956"/>
        </p:xfrm>
        <a:graphic>
          <a:graphicData uri="http://schemas.openxmlformats.org/drawingml/2006/table">
            <a:tbl>
              <a:tblPr firstRow="1" bandRow="1">
                <a:tableStyleId>{5C22544A-7EE6-4342-B048-85BDC9FD1C3A}</a:tableStyleId>
              </a:tblPr>
              <a:tblGrid>
                <a:gridCol w="681501">
                  <a:extLst>
                    <a:ext uri="{9D8B030D-6E8A-4147-A177-3AD203B41FA5}">
                      <a16:colId xmlns:a16="http://schemas.microsoft.com/office/drawing/2014/main" val="20000"/>
                    </a:ext>
                  </a:extLst>
                </a:gridCol>
                <a:gridCol w="1885236">
                  <a:extLst>
                    <a:ext uri="{9D8B030D-6E8A-4147-A177-3AD203B41FA5}">
                      <a16:colId xmlns:a16="http://schemas.microsoft.com/office/drawing/2014/main" val="20001"/>
                    </a:ext>
                  </a:extLst>
                </a:gridCol>
                <a:gridCol w="1138989">
                  <a:extLst>
                    <a:ext uri="{9D8B030D-6E8A-4147-A177-3AD203B41FA5}">
                      <a16:colId xmlns:a16="http://schemas.microsoft.com/office/drawing/2014/main" val="20002"/>
                    </a:ext>
                  </a:extLst>
                </a:gridCol>
                <a:gridCol w="1860885">
                  <a:extLst>
                    <a:ext uri="{9D8B030D-6E8A-4147-A177-3AD203B41FA5}">
                      <a16:colId xmlns:a16="http://schemas.microsoft.com/office/drawing/2014/main" val="20003"/>
                    </a:ext>
                  </a:extLst>
                </a:gridCol>
                <a:gridCol w="3720824">
                  <a:extLst>
                    <a:ext uri="{9D8B030D-6E8A-4147-A177-3AD203B41FA5}">
                      <a16:colId xmlns:a16="http://schemas.microsoft.com/office/drawing/2014/main" val="20004"/>
                    </a:ext>
                  </a:extLst>
                </a:gridCol>
                <a:gridCol w="2904565">
                  <a:extLst>
                    <a:ext uri="{9D8B030D-6E8A-4147-A177-3AD203B41FA5}">
                      <a16:colId xmlns:a16="http://schemas.microsoft.com/office/drawing/2014/main" val="20005"/>
                    </a:ext>
                  </a:extLst>
                </a:gridCol>
              </a:tblGrid>
              <a:tr h="679963">
                <a:tc>
                  <a:txBody>
                    <a:bodyPr/>
                    <a:lstStyle/>
                    <a:p>
                      <a:pPr algn="l"/>
                      <a:r>
                        <a:rPr lang="en-IN" sz="1300" dirty="0">
                          <a:latin typeface="Times New Roman" panose="02020603050405020304" pitchFamily="18" charset="0"/>
                          <a:cs typeface="Times New Roman" panose="02020603050405020304" pitchFamily="18" charset="0"/>
                        </a:rPr>
                        <a:t>S.NO</a:t>
                      </a:r>
                    </a:p>
                  </a:txBody>
                  <a:tcPr/>
                </a:tc>
                <a:tc>
                  <a:txBody>
                    <a:bodyPr/>
                    <a:lstStyle/>
                    <a:p>
                      <a:pPr algn="l"/>
                      <a:r>
                        <a:rPr lang="en-IN" sz="1300" dirty="0">
                          <a:latin typeface="Times New Roman" panose="02020603050405020304" pitchFamily="18" charset="0"/>
                          <a:cs typeface="Times New Roman" panose="02020603050405020304" pitchFamily="18" charset="0"/>
                        </a:rPr>
                        <a:t>Paper  &amp; Author name</a:t>
                      </a:r>
                    </a:p>
                  </a:txBody>
                  <a:tcPr/>
                </a:tc>
                <a:tc>
                  <a:txBody>
                    <a:bodyPr/>
                    <a:lstStyle/>
                    <a:p>
                      <a:pPr algn="l"/>
                      <a:r>
                        <a:rPr lang="en-IN" sz="1300" dirty="0">
                          <a:latin typeface="Times New Roman" panose="02020603050405020304" pitchFamily="18" charset="0"/>
                          <a:cs typeface="Times New Roman" panose="02020603050405020304" pitchFamily="18" charset="0"/>
                        </a:rPr>
                        <a:t>Year of publication</a:t>
                      </a:r>
                    </a:p>
                  </a:txBody>
                  <a:tcPr/>
                </a:tc>
                <a:tc>
                  <a:txBody>
                    <a:bodyPr/>
                    <a:lstStyle/>
                    <a:p>
                      <a:pPr algn="l"/>
                      <a:r>
                        <a:rPr lang="en-IN" sz="1300" dirty="0">
                          <a:latin typeface="Times New Roman" panose="02020603050405020304" pitchFamily="18" charset="0"/>
                          <a:cs typeface="Times New Roman" panose="02020603050405020304" pitchFamily="18" charset="0"/>
                        </a:rPr>
                        <a:t>Algorithms </a:t>
                      </a:r>
                    </a:p>
                  </a:txBody>
                  <a:tcPr/>
                </a:tc>
                <a:tc>
                  <a:txBody>
                    <a:bodyPr/>
                    <a:lstStyle/>
                    <a:p>
                      <a:pPr algn="l"/>
                      <a:r>
                        <a:rPr lang="en-IN" sz="1300" dirty="0">
                          <a:latin typeface="Times New Roman" panose="02020603050405020304" pitchFamily="18" charset="0"/>
                          <a:cs typeface="Times New Roman" panose="02020603050405020304" pitchFamily="18" charset="0"/>
                        </a:rPr>
                        <a:t>Workdone </a:t>
                      </a:r>
                    </a:p>
                  </a:txBody>
                  <a:tcPr/>
                </a:tc>
                <a:tc>
                  <a:txBody>
                    <a:bodyPr/>
                    <a:lstStyle/>
                    <a:p>
                      <a:pPr algn="l"/>
                      <a:r>
                        <a:rPr lang="en-IN" sz="1300" dirty="0">
                          <a:latin typeface="Times New Roman" panose="02020603050405020304" pitchFamily="18" charset="0"/>
                          <a:cs typeface="Times New Roman" panose="02020603050405020304" pitchFamily="18" charset="0"/>
                        </a:rPr>
                        <a:t>Conclusion </a:t>
                      </a:r>
                    </a:p>
                  </a:txBody>
                  <a:tcPr/>
                </a:tc>
                <a:extLst>
                  <a:ext uri="{0D108BD9-81ED-4DB2-BD59-A6C34878D82A}">
                    <a16:rowId xmlns:a16="http://schemas.microsoft.com/office/drawing/2014/main" val="10000"/>
                  </a:ext>
                </a:extLst>
              </a:tr>
              <a:tr h="1886436">
                <a:tc>
                  <a:txBody>
                    <a:bodyPr/>
                    <a:lstStyle/>
                    <a:p>
                      <a:pPr algn="l"/>
                      <a:r>
                        <a:rPr lang="en-IN" sz="1300" dirty="0">
                          <a:latin typeface="Times New Roman" panose="02020603050405020304" pitchFamily="18" charset="0"/>
                          <a:cs typeface="Times New Roman" panose="02020603050405020304" pitchFamily="18" charset="0"/>
                        </a:rPr>
                        <a:t>1</a:t>
                      </a:r>
                    </a:p>
                  </a:txBody>
                  <a:tcPr/>
                </a:tc>
                <a:tc>
                  <a:txBody>
                    <a:bodyPr/>
                    <a:lstStyle/>
                    <a:p>
                      <a:pPr algn="l"/>
                      <a:r>
                        <a:rPr lang="en-US" sz="1200" b="1" dirty="0">
                          <a:latin typeface="Times New Roman" panose="02020603050405020304" pitchFamily="18" charset="0"/>
                          <a:cs typeface="Times New Roman" panose="02020603050405020304" pitchFamily="18" charset="0"/>
                        </a:rPr>
                        <a:t>Interpreting Deep Neural </a:t>
                      </a:r>
                    </a:p>
                    <a:p>
                      <a:pPr algn="l"/>
                      <a:r>
                        <a:rPr lang="en-US" sz="1200" b="1" dirty="0">
                          <a:latin typeface="Times New Roman" panose="02020603050405020304" pitchFamily="18" charset="0"/>
                          <a:cs typeface="Times New Roman" panose="02020603050405020304" pitchFamily="18" charset="0"/>
                        </a:rPr>
                        <a:t>Networks for Single-Lead </a:t>
                      </a:r>
                    </a:p>
                    <a:p>
                      <a:pPr algn="l"/>
                      <a:r>
                        <a:rPr lang="en-US" sz="1200" b="1" dirty="0">
                          <a:latin typeface="Times New Roman" panose="02020603050405020304" pitchFamily="18" charset="0"/>
                          <a:cs typeface="Times New Roman" panose="02020603050405020304" pitchFamily="18" charset="0"/>
                        </a:rPr>
                        <a:t>ECG Arrhythmia </a:t>
                      </a:r>
                      <a:r>
                        <a:rPr lang="fr-FR" sz="1200" b="1" dirty="0">
                          <a:latin typeface="Times New Roman" panose="02020603050405020304" pitchFamily="18" charset="0"/>
                          <a:cs typeface="Times New Roman" panose="02020603050405020304" pitchFamily="18" charset="0"/>
                        </a:rPr>
                        <a:t>Classification </a:t>
                      </a:r>
                    </a:p>
                    <a:p>
                      <a:pPr algn="just"/>
                      <a:r>
                        <a:rPr lang="fr-FR" sz="1200" b="1" dirty="0">
                          <a:latin typeface="Times New Roman" panose="02020603050405020304" pitchFamily="18" charset="0"/>
                          <a:cs typeface="Times New Roman" panose="02020603050405020304" pitchFamily="18" charset="0"/>
                        </a:rPr>
                        <a:t> </a:t>
                      </a:r>
                    </a:p>
                    <a:p>
                      <a:pPr algn="just"/>
                      <a:r>
                        <a:rPr lang="fr-FR" sz="1200" b="0" dirty="0" err="1">
                          <a:latin typeface="Times New Roman" panose="02020603050405020304" pitchFamily="18" charset="0"/>
                          <a:cs typeface="Times New Roman" panose="02020603050405020304" pitchFamily="18" charset="0"/>
                        </a:rPr>
                        <a:t>Vijayarangan</a:t>
                      </a:r>
                      <a:r>
                        <a:rPr lang="fr-FR" sz="1200" b="0" dirty="0">
                          <a:latin typeface="Times New Roman" panose="02020603050405020304" pitchFamily="18" charset="0"/>
                          <a:cs typeface="Times New Roman" panose="02020603050405020304" pitchFamily="18" charset="0"/>
                        </a:rPr>
                        <a:t>, S. </a:t>
                      </a:r>
                    </a:p>
                    <a:p>
                      <a:pPr algn="just"/>
                      <a:r>
                        <a:rPr lang="fr-FR" sz="1200" b="0" dirty="0">
                          <a:latin typeface="Times New Roman" panose="02020603050405020304" pitchFamily="18" charset="0"/>
                          <a:cs typeface="Times New Roman" panose="02020603050405020304" pitchFamily="18" charset="0"/>
                        </a:rPr>
                        <a:t>et al.</a:t>
                      </a:r>
                      <a:endParaRPr lang="en-IN" sz="1200" b="0" dirty="0">
                        <a:latin typeface="Times New Roman" panose="02020603050405020304" pitchFamily="18" charset="0"/>
                        <a:cs typeface="Times New Roman" panose="02020603050405020304" pitchFamily="18" charset="0"/>
                      </a:endParaRPr>
                    </a:p>
                    <a:p>
                      <a:pPr algn="l"/>
                      <a:endParaRPr lang="en-IN" sz="1200" dirty="0">
                        <a:latin typeface="Times New Roman" panose="02020603050405020304" pitchFamily="18" charset="0"/>
                        <a:cs typeface="Times New Roman" panose="02020603050405020304" pitchFamily="18" charset="0"/>
                      </a:endParaRPr>
                    </a:p>
                  </a:txBody>
                  <a:tcPr/>
                </a:tc>
                <a:tc>
                  <a:txBody>
                    <a:bodyPr/>
                    <a:lstStyle/>
                    <a:p>
                      <a:pPr algn="l"/>
                      <a:r>
                        <a:rPr lang="en-US" sz="1200" dirty="0">
                          <a:latin typeface="Times New Roman" panose="02020603050405020304" pitchFamily="18" charset="0"/>
                          <a:cs typeface="Times New Roman" panose="02020603050405020304" pitchFamily="18" charset="0"/>
                        </a:rPr>
                        <a:t>2020</a:t>
                      </a:r>
                      <a:endParaRPr lang="en-IN" sz="1200" dirty="0">
                        <a:latin typeface="Times New Roman" panose="02020603050405020304" pitchFamily="18" charset="0"/>
                        <a:cs typeface="Times New Roman" panose="02020603050405020304" pitchFamily="18" charset="0"/>
                      </a:endParaRPr>
                    </a:p>
                  </a:txBody>
                  <a:tcPr/>
                </a:tc>
                <a:tc>
                  <a:txBody>
                    <a:bodyPr/>
                    <a:lstStyle/>
                    <a:p>
                      <a:pPr marL="171450" indent="-171450">
                        <a:lnSpc>
                          <a:spcPct val="115000"/>
                        </a:lnSpc>
                        <a:spcAft>
                          <a:spcPts val="0"/>
                        </a:spcAft>
                        <a:buFont typeface="Arial" panose="020B0604020202020204" pitchFamily="34" charset="0"/>
                        <a:buChar char="•"/>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Deep Neural Networks (DNN) </a:t>
                      </a:r>
                      <a:endParaRPr lang="en-US" sz="1200" dirty="0">
                        <a:effectLst/>
                        <a:latin typeface="Times New Roman" panose="02020603050405020304" pitchFamily="18" charset="0"/>
                        <a:ea typeface="Batang" panose="02030600000101010101" pitchFamily="18" charset="-127"/>
                        <a:cs typeface="Times New Roman" panose="02020603050405020304" pitchFamily="18" charset="0"/>
                      </a:endParaRPr>
                    </a:p>
                    <a:p>
                      <a:pPr marL="171450" indent="-171450">
                        <a:lnSpc>
                          <a:spcPct val="115000"/>
                        </a:lnSpc>
                        <a:buFont typeface="Arial" panose="020B0604020202020204" pitchFamily="34" charset="0"/>
                        <a:buChar char="•"/>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CNN-based models</a:t>
                      </a:r>
                      <a:endParaRPr lang="en-US" sz="1200" dirty="0">
                        <a:effectLst/>
                        <a:latin typeface="Times New Roman" panose="02020603050405020304" pitchFamily="18" charset="0"/>
                        <a:ea typeface="Batang" panose="02030600000101010101" pitchFamily="18" charset="-127"/>
                        <a:cs typeface="Times New Roman" panose="02020603050405020304" pitchFamily="18" charset="0"/>
                      </a:endParaRPr>
                    </a:p>
                    <a:p>
                      <a:pPr marL="171450" indent="-171450">
                        <a:lnSpc>
                          <a:spcPct val="115000"/>
                        </a:lnSpc>
                        <a:buFont typeface="Arial" panose="020B0604020202020204" pitchFamily="34" charset="0"/>
                        <a:buChar char="•"/>
                      </a:pPr>
                      <a:r>
                        <a:rPr lang="en-US" sz="1200" dirty="0">
                          <a:effectLst/>
                          <a:latin typeface="Times New Roman" panose="02020603050405020304" pitchFamily="18" charset="0"/>
                          <a:ea typeface="SimSun" panose="02010600030101010101" pitchFamily="2" charset="-122"/>
                          <a:cs typeface="Times New Roman" panose="02020603050405020304" pitchFamily="18" charset="0"/>
                        </a:rPr>
                        <a:t>Model interpretation techniques (like saliency/attention visualization)</a:t>
                      </a:r>
                      <a:endParaRPr lang="en-US" sz="1200" dirty="0">
                        <a:effectLst/>
                        <a:latin typeface="Times New Roman" panose="02020603050405020304" pitchFamily="18" charset="0"/>
                        <a:ea typeface="Batang" panose="02030600000101010101" pitchFamily="18" charset="-127"/>
                        <a:cs typeface="Times New Roman" panose="02020603050405020304" pitchFamily="18" charset="0"/>
                      </a:endParaRPr>
                    </a:p>
                    <a:p>
                      <a:pPr>
                        <a:lnSpc>
                          <a:spcPct val="115000"/>
                        </a:lnSpc>
                      </a:pPr>
                      <a:r>
                        <a:rPr lang="en-US" sz="1000" dirty="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000" dirty="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tc>
                <a:tc>
                  <a:txBody>
                    <a:bodyPr/>
                    <a:lstStyle/>
                    <a:p>
                      <a:pPr algn="just"/>
                      <a:r>
                        <a:rPr lang="en-US" altLang="en-US" sz="1200">
                          <a:latin typeface="Times New Roman" panose="02020603050405020304" pitchFamily="18" charset="0"/>
                          <a:cs typeface="Times New Roman" panose="02020603050405020304" pitchFamily="18" charset="0"/>
                        </a:rPr>
                        <a:t>The authors created a deep learning-based architecture for arrhythmia classification based on single-lead ECG records. The work mainly emphasized not only obtaining good results in classification but also making deep neural networks more interpretable. Convolutional neural network algorithms were utilized to obtain relevant features from ECG data, while the interpretation of the model was done using visualization approaches to determine which sections of the input signal influenced the model’s decision the most.</a:t>
                      </a:r>
                      <a:endParaRPr lang="en-US" altLang="en-US" sz="1200" dirty="0">
                        <a:latin typeface="Times New Roman" panose="02020603050405020304" pitchFamily="18" charset="0"/>
                        <a:cs typeface="Times New Roman" panose="02020603050405020304" pitchFamily="18" charset="0"/>
                      </a:endParaRPr>
                    </a:p>
                  </a:txBody>
                  <a:tcPr/>
                </a:tc>
                <a:tc>
                  <a:txBody>
                    <a:bodyPr/>
                    <a:lstStyle/>
                    <a:p>
                      <a:pPr algn="just"/>
                      <a:r>
                        <a:rPr lang="en-US" sz="1200">
                          <a:latin typeface="Times New Roman" panose="02020603050405020304" pitchFamily="18" charset="0"/>
                          <a:cs typeface="Times New Roman" panose="02020603050405020304" pitchFamily="18" charset="0"/>
                        </a:rPr>
                        <a:t>According to the researchers’ findings, deep neural networks prove to be highly efficient when performing arrhythmia classification based on single-lead ECG records. Moreover, applying interpretability approaches makes the use of deep neural networks more reliable in the clinical setting.</a:t>
                      </a:r>
                    </a:p>
                    <a:p>
                      <a:pPr algn="just"/>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486753">
                <a:tc>
                  <a:txBody>
                    <a:bodyPr/>
                    <a:lstStyle/>
                    <a:p>
                      <a:pPr algn="l"/>
                      <a:r>
                        <a:rPr lang="en-IN" sz="1300" dirty="0">
                          <a:latin typeface="Times New Roman" panose="02020603050405020304" pitchFamily="18" charset="0"/>
                          <a:cs typeface="Times New Roman" panose="02020603050405020304" pitchFamily="18" charset="0"/>
                        </a:rPr>
                        <a:t>2</a:t>
                      </a:r>
                    </a:p>
                  </a:txBody>
                  <a:tcPr/>
                </a:tc>
                <a:tc>
                  <a:txBody>
                    <a:bodyPr/>
                    <a:lstStyle/>
                    <a:p>
                      <a:pPr algn="l"/>
                      <a:r>
                        <a:rPr lang="en-US" sz="1200" b="1" i="0" u="none" strike="noStrike" kern="1200" dirty="0">
                          <a:solidFill>
                            <a:schemeClr val="dk1"/>
                          </a:solidFill>
                          <a:effectLst/>
                          <a:latin typeface="Times New Roman" panose="02020603050405020304" pitchFamily="18" charset="0"/>
                          <a:ea typeface="+mn-ea"/>
                          <a:cs typeface="Times New Roman" panose="02020603050405020304" pitchFamily="18" charset="0"/>
                        </a:rPr>
                        <a:t>A Hybrid Deep Learning Approach for ECG-Based Arrhythmia Classification</a:t>
                      </a:r>
                    </a:p>
                    <a:p>
                      <a:pPr algn="l"/>
                      <a:endParaRPr lang="en-US" sz="1200" b="1" i="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algn="l"/>
                      <a:r>
                        <a:rPr lang="en-US" sz="12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Madan, P. et al.</a:t>
                      </a:r>
                    </a:p>
                  </a:txBody>
                  <a:tcPr/>
                </a:tc>
                <a:tc>
                  <a:txBody>
                    <a:bodyPr/>
                    <a:lstStyle/>
                    <a:p>
                      <a:pPr algn="l"/>
                      <a:r>
                        <a:rPr lang="en-IN" sz="1300" dirty="0">
                          <a:latin typeface="Times New Roman" panose="02020603050405020304" pitchFamily="18" charset="0"/>
                          <a:cs typeface="Times New Roman" panose="02020603050405020304" pitchFamily="18" charset="0"/>
                        </a:rPr>
                        <a:t>2022</a:t>
                      </a:r>
                    </a:p>
                  </a:txBody>
                  <a:tcPr/>
                </a:tc>
                <a:tc>
                  <a:txBody>
                    <a:bodyPr/>
                    <a:lstStyle/>
                    <a:p>
                      <a:pPr marL="171450" indent="-171450">
                        <a:buFont typeface="Arial" panose="020B0604020202020204" pitchFamily="34" charset="0"/>
                        <a:buChar char="•"/>
                      </a:pPr>
                      <a:r>
                        <a:rPr lang="en-US" sz="1200" kern="1200" dirty="0">
                          <a:solidFill>
                            <a:schemeClr val="dk1"/>
                          </a:solidFill>
                          <a:effectLst/>
                          <a:latin typeface="Times New Roman" panose="02020603050405020304" pitchFamily="18" charset="0"/>
                          <a:ea typeface="+mn-ea"/>
                          <a:cs typeface="Times New Roman" panose="02020603050405020304" pitchFamily="18" charset="0"/>
                        </a:rPr>
                        <a:t>Hybrid Deep Learning:</a:t>
                      </a:r>
                    </a:p>
                    <a:p>
                      <a:pPr marL="171450" indent="-171450">
                        <a:buFont typeface="Arial" panose="020B0604020202020204" pitchFamily="34" charset="0"/>
                        <a:buChar char="•"/>
                      </a:pPr>
                      <a:r>
                        <a:rPr lang="en-US" sz="1200" kern="1200" dirty="0">
                          <a:solidFill>
                            <a:schemeClr val="dk1"/>
                          </a:solidFill>
                          <a:effectLst/>
                          <a:latin typeface="Times New Roman" panose="02020603050405020304" pitchFamily="18" charset="0"/>
                          <a:ea typeface="+mn-ea"/>
                          <a:cs typeface="Times New Roman" panose="02020603050405020304" pitchFamily="18" charset="0"/>
                        </a:rPr>
                        <a:t>CNN (for feature extraction)</a:t>
                      </a:r>
                    </a:p>
                    <a:p>
                      <a:pPr marL="171450" indent="-171450">
                        <a:buFont typeface="Arial" panose="020B0604020202020204" pitchFamily="34" charset="0"/>
                        <a:buChar char="•"/>
                      </a:pPr>
                      <a:r>
                        <a:rPr lang="en-US" sz="1200" kern="1200" dirty="0">
                          <a:solidFill>
                            <a:schemeClr val="dk1"/>
                          </a:solidFill>
                          <a:effectLst/>
                          <a:latin typeface="Times New Roman" panose="02020603050405020304" pitchFamily="18" charset="0"/>
                          <a:ea typeface="+mn-ea"/>
                          <a:cs typeface="Times New Roman" panose="02020603050405020304" pitchFamily="18" charset="0"/>
                        </a:rPr>
                        <a:t>RNN / LSTM (for temporal dependencies)</a:t>
                      </a:r>
                      <a:endParaRPr lang="en-US" sz="1200" b="0" dirty="0">
                        <a:latin typeface="Times New Roman" panose="02020603050405020304" pitchFamily="18" charset="0"/>
                        <a:cs typeface="Times New Roman" panose="02020603050405020304" pitchFamily="18" charset="0"/>
                      </a:endParaRPr>
                    </a:p>
                  </a:txBody>
                  <a:tcPr/>
                </a:tc>
                <a:tc>
                  <a:txBody>
                    <a:bodyPr/>
                    <a:lstStyle/>
                    <a:p>
                      <a:pPr algn="just"/>
                      <a:r>
                        <a:rPr lang="en-US" altLang="en-US" sz="1200" b="0" dirty="0">
                          <a:latin typeface="Times New Roman" panose="02020603050405020304" pitchFamily="18" charset="0"/>
                          <a:cs typeface="Times New Roman" panose="02020603050405020304" pitchFamily="18" charset="0"/>
                        </a:rPr>
                        <a:t>The authors suggested a hybrid deep learning model based on convolutional neural networks (CNN) and long short-term memory (LSTM) networks to classify arrhythmia during ECG. Spatial features of ECG signals were automatically selected using CNN, and the temporal dependencies of the sequence were learned with LSTM. This model was trained and tested on ECG datasets to classify various types of arrhythmias, which reveals the benefits of using feature extraction and sequence modeling methods.</a:t>
                      </a:r>
                    </a:p>
                  </a:txBody>
                  <a:tcPr/>
                </a:tc>
                <a:tc>
                  <a:txBody>
                    <a:bodyPr/>
                    <a:lstStyle/>
                    <a:p>
                      <a:pPr algn="just"/>
                      <a:r>
                        <a:rPr lang="en-US" sz="1200" b="0" i="0" dirty="0">
                          <a:latin typeface="Times New Roman" panose="02020603050405020304" pitchFamily="18" charset="0"/>
                          <a:cs typeface="Times New Roman" panose="02020603050405020304" pitchFamily="18" charset="0"/>
                        </a:rPr>
                        <a:t>The researchers came to the conclusion that hybrid deep learning techniques are much effective in terms of classification performance in comparison with single models. CNN and LSTM are effective in the combination of their ability to capture the spatial and temporal features of the ECG signals resulting in increased accuracy and strength. This method is especially applicable to time-series medical data such as ECG.</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898691717"/>
              </p:ext>
            </p:extLst>
          </p:nvPr>
        </p:nvGraphicFramePr>
        <p:xfrm>
          <a:off x="0" y="0"/>
          <a:ext cx="12192000" cy="7169131"/>
        </p:xfrm>
        <a:graphic>
          <a:graphicData uri="http://schemas.openxmlformats.org/drawingml/2006/table">
            <a:tbl>
              <a:tblPr firstRow="1" bandRow="1">
                <a:tableStyleId>{5C22544A-7EE6-4342-B048-85BDC9FD1C3A}</a:tableStyleId>
              </a:tblPr>
              <a:tblGrid>
                <a:gridCol w="564776">
                  <a:extLst>
                    <a:ext uri="{9D8B030D-6E8A-4147-A177-3AD203B41FA5}">
                      <a16:colId xmlns:a16="http://schemas.microsoft.com/office/drawing/2014/main" val="20000"/>
                    </a:ext>
                  </a:extLst>
                </a:gridCol>
                <a:gridCol w="2214283">
                  <a:extLst>
                    <a:ext uri="{9D8B030D-6E8A-4147-A177-3AD203B41FA5}">
                      <a16:colId xmlns:a16="http://schemas.microsoft.com/office/drawing/2014/main" val="20001"/>
                    </a:ext>
                  </a:extLst>
                </a:gridCol>
                <a:gridCol w="1210235">
                  <a:extLst>
                    <a:ext uri="{9D8B030D-6E8A-4147-A177-3AD203B41FA5}">
                      <a16:colId xmlns:a16="http://schemas.microsoft.com/office/drawing/2014/main" val="20002"/>
                    </a:ext>
                  </a:extLst>
                </a:gridCol>
                <a:gridCol w="1999130">
                  <a:extLst>
                    <a:ext uri="{9D8B030D-6E8A-4147-A177-3AD203B41FA5}">
                      <a16:colId xmlns:a16="http://schemas.microsoft.com/office/drawing/2014/main" val="20003"/>
                    </a:ext>
                  </a:extLst>
                </a:gridCol>
                <a:gridCol w="3021105">
                  <a:extLst>
                    <a:ext uri="{9D8B030D-6E8A-4147-A177-3AD203B41FA5}">
                      <a16:colId xmlns:a16="http://schemas.microsoft.com/office/drawing/2014/main" val="20004"/>
                    </a:ext>
                  </a:extLst>
                </a:gridCol>
                <a:gridCol w="3182471">
                  <a:extLst>
                    <a:ext uri="{9D8B030D-6E8A-4147-A177-3AD203B41FA5}">
                      <a16:colId xmlns:a16="http://schemas.microsoft.com/office/drawing/2014/main" val="20005"/>
                    </a:ext>
                  </a:extLst>
                </a:gridCol>
              </a:tblGrid>
              <a:tr h="513088">
                <a:tc>
                  <a:txBody>
                    <a:bodyPr/>
                    <a:lstStyle/>
                    <a:p>
                      <a:pPr algn="l"/>
                      <a:r>
                        <a:rPr lang="en-IN" sz="1300" dirty="0">
                          <a:latin typeface="Times New Roman" panose="02020603050405020304" pitchFamily="18" charset="0"/>
                          <a:cs typeface="Times New Roman" panose="02020603050405020304" pitchFamily="18" charset="0"/>
                        </a:rPr>
                        <a:t>S.NO</a:t>
                      </a:r>
                    </a:p>
                  </a:txBody>
                  <a:tcPr/>
                </a:tc>
                <a:tc>
                  <a:txBody>
                    <a:bodyPr/>
                    <a:lstStyle/>
                    <a:p>
                      <a:pPr algn="l"/>
                      <a:r>
                        <a:rPr lang="en-IN" sz="1300" dirty="0">
                          <a:latin typeface="Times New Roman" panose="02020603050405020304" pitchFamily="18" charset="0"/>
                          <a:cs typeface="Times New Roman" panose="02020603050405020304" pitchFamily="18" charset="0"/>
                        </a:rPr>
                        <a:t>Paper  &amp; Author name</a:t>
                      </a:r>
                    </a:p>
                  </a:txBody>
                  <a:tcPr/>
                </a:tc>
                <a:tc>
                  <a:txBody>
                    <a:bodyPr/>
                    <a:lstStyle/>
                    <a:p>
                      <a:pPr algn="l"/>
                      <a:r>
                        <a:rPr lang="en-IN" sz="1300" dirty="0">
                          <a:latin typeface="Times New Roman" panose="02020603050405020304" pitchFamily="18" charset="0"/>
                          <a:cs typeface="Times New Roman" panose="02020603050405020304" pitchFamily="18" charset="0"/>
                        </a:rPr>
                        <a:t>Year of publication</a:t>
                      </a:r>
                    </a:p>
                  </a:txBody>
                  <a:tcPr/>
                </a:tc>
                <a:tc>
                  <a:txBody>
                    <a:bodyPr/>
                    <a:lstStyle/>
                    <a:p>
                      <a:pPr algn="l"/>
                      <a:r>
                        <a:rPr lang="en-IN" sz="1300" dirty="0">
                          <a:latin typeface="Times New Roman" panose="02020603050405020304" pitchFamily="18" charset="0"/>
                          <a:cs typeface="Times New Roman" panose="02020603050405020304" pitchFamily="18" charset="0"/>
                        </a:rPr>
                        <a:t>Algorithms </a:t>
                      </a:r>
                    </a:p>
                  </a:txBody>
                  <a:tcPr/>
                </a:tc>
                <a:tc>
                  <a:txBody>
                    <a:bodyPr/>
                    <a:lstStyle/>
                    <a:p>
                      <a:pPr algn="l"/>
                      <a:r>
                        <a:rPr lang="en-IN" sz="1300" dirty="0">
                          <a:latin typeface="Times New Roman" panose="02020603050405020304" pitchFamily="18" charset="0"/>
                          <a:cs typeface="Times New Roman" panose="02020603050405020304" pitchFamily="18" charset="0"/>
                        </a:rPr>
                        <a:t>Workdone </a:t>
                      </a:r>
                    </a:p>
                  </a:txBody>
                  <a:tcPr/>
                </a:tc>
                <a:tc>
                  <a:txBody>
                    <a:bodyPr/>
                    <a:lstStyle/>
                    <a:p>
                      <a:pPr algn="l"/>
                      <a:r>
                        <a:rPr lang="en-IN" sz="1300" dirty="0">
                          <a:latin typeface="Times New Roman" panose="02020603050405020304" pitchFamily="18" charset="0"/>
                          <a:cs typeface="Times New Roman" panose="02020603050405020304" pitchFamily="18" charset="0"/>
                        </a:rPr>
                        <a:t>Conclusion </a:t>
                      </a:r>
                    </a:p>
                  </a:txBody>
                  <a:tcPr/>
                </a:tc>
                <a:extLst>
                  <a:ext uri="{0D108BD9-81ED-4DB2-BD59-A6C34878D82A}">
                    <a16:rowId xmlns:a16="http://schemas.microsoft.com/office/drawing/2014/main" val="10000"/>
                  </a:ext>
                </a:extLst>
              </a:tr>
              <a:tr h="2215155">
                <a:tc>
                  <a:txBody>
                    <a:bodyPr/>
                    <a:lstStyle/>
                    <a:p>
                      <a:pPr algn="l"/>
                      <a:r>
                        <a:rPr lang="en-IN" sz="1300" dirty="0">
                          <a:latin typeface="Times New Roman" panose="02020603050405020304" pitchFamily="18" charset="0"/>
                          <a:cs typeface="Times New Roman" panose="02020603050405020304" pitchFamily="18" charset="0"/>
                        </a:rPr>
                        <a:t>3</a:t>
                      </a:r>
                    </a:p>
                  </a:txBody>
                  <a:tcPr/>
                </a:tc>
                <a:tc>
                  <a:txBody>
                    <a:bodyPr/>
                    <a:lstStyle/>
                    <a:p>
                      <a:pPr marL="25400" algn="just">
                        <a:lnSpc>
                          <a:spcPct val="115000"/>
                        </a:lnSpc>
                      </a:pPr>
                      <a:r>
                        <a:rPr lang="en-US" sz="1200" b="1" dirty="0">
                          <a:effectLst/>
                          <a:latin typeface="Times New Roman" panose="02020603050405020304" pitchFamily="18" charset="0"/>
                          <a:ea typeface="SimSun" panose="02010600030101010101" pitchFamily="2" charset="-122"/>
                          <a:cs typeface="Times New Roman" panose="02020603050405020304" pitchFamily="18" charset="0"/>
                        </a:rPr>
                        <a:t>Arrhythmia Detection in Inter-Patient ECG Signals Using Entropy Rate Features and RR Intervals with CNN Architecture</a:t>
                      </a:r>
                    </a:p>
                    <a:p>
                      <a:pPr marL="25400" algn="just">
                        <a:lnSpc>
                          <a:spcPct val="115000"/>
                        </a:lnSpc>
                      </a:pPr>
                      <a:endParaRPr lang="en-US" sz="1200" b="1" dirty="0">
                        <a:effectLst/>
                        <a:latin typeface="Times New Roman" panose="02020603050405020304" pitchFamily="18" charset="0"/>
                        <a:ea typeface="Batang" panose="02030600000101010101" pitchFamily="18" charset="-127"/>
                        <a:cs typeface="Times New Roman" panose="02020603050405020304" pitchFamily="18" charset="0"/>
                      </a:endParaRPr>
                    </a:p>
                    <a:p>
                      <a:pPr marL="25400" algn="just">
                        <a:lnSpc>
                          <a:spcPct val="115000"/>
                        </a:lnSpc>
                      </a:pPr>
                      <a:r>
                        <a:rPr lang="fr-FR" sz="1200" b="0" dirty="0" err="1">
                          <a:effectLst/>
                          <a:latin typeface="Times New Roman" panose="02020603050405020304" pitchFamily="18" charset="0"/>
                          <a:ea typeface="Batang" panose="02030600000101010101" pitchFamily="18" charset="-127"/>
                          <a:cs typeface="Times New Roman" panose="02020603050405020304" pitchFamily="18" charset="0"/>
                        </a:rPr>
                        <a:t>Berrahou</a:t>
                      </a:r>
                      <a:r>
                        <a:rPr lang="fr-FR" sz="1200" b="0" dirty="0">
                          <a:effectLst/>
                          <a:latin typeface="Times New Roman" panose="02020603050405020304" pitchFamily="18" charset="0"/>
                          <a:ea typeface="Batang" panose="02030600000101010101" pitchFamily="18" charset="-127"/>
                          <a:cs typeface="Times New Roman" panose="02020603050405020304" pitchFamily="18" charset="0"/>
                        </a:rPr>
                        <a:t>, N. et al.</a:t>
                      </a:r>
                      <a:endParaRPr lang="en-US" sz="1200" b="0" dirty="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tc>
                <a:tc>
                  <a:txBody>
                    <a:bodyPr/>
                    <a:lstStyle/>
                    <a:p>
                      <a:pPr algn="l"/>
                      <a:r>
                        <a:rPr lang="en-IN" sz="1300" dirty="0">
                          <a:latin typeface="Times New Roman" panose="02020603050405020304" pitchFamily="18" charset="0"/>
                          <a:cs typeface="Times New Roman" panose="02020603050405020304" pitchFamily="18" charset="0"/>
                        </a:rPr>
                        <a:t>2024</a:t>
                      </a:r>
                    </a:p>
                  </a:txBody>
                  <a:tcPr/>
                </a:tc>
                <a:tc>
                  <a:txBody>
                    <a:bodyPr/>
                    <a:lstStyle/>
                    <a:p>
                      <a:pPr marL="196850" indent="-171450" algn="just">
                        <a:lnSpc>
                          <a:spcPct val="115000"/>
                        </a:lnSpc>
                        <a:buFont typeface="Arial" panose="020B0604020202020204" pitchFamily="34" charset="0"/>
                        <a:buChar char="•"/>
                      </a:pPr>
                      <a:r>
                        <a:rPr lang="en-US" sz="1200" dirty="0">
                          <a:effectLst/>
                          <a:latin typeface="Times New Roman" panose="02020603050405020304" pitchFamily="18" charset="0"/>
                          <a:ea typeface="SimSun" panose="02010600030101010101" pitchFamily="2" charset="-122"/>
                          <a:cs typeface="Times New Roman" panose="02020603050405020304" pitchFamily="18" charset="0"/>
                        </a:rPr>
                        <a:t>CNN (Convolutional Neural Network)</a:t>
                      </a:r>
                      <a:endParaRPr lang="en-US" sz="1200" dirty="0">
                        <a:effectLst/>
                        <a:latin typeface="Times New Roman" panose="02020603050405020304" pitchFamily="18" charset="0"/>
                        <a:ea typeface="Batang" panose="02030600000101010101" pitchFamily="18" charset="-127"/>
                        <a:cs typeface="Times New Roman" panose="02020603050405020304" pitchFamily="18" charset="0"/>
                      </a:endParaRPr>
                    </a:p>
                    <a:p>
                      <a:pPr marL="196850" indent="-171450" algn="just">
                        <a:lnSpc>
                          <a:spcPct val="115000"/>
                        </a:lnSpc>
                        <a:buFont typeface="Arial" panose="020B0604020202020204" pitchFamily="34" charset="0"/>
                        <a:buChar char="•"/>
                      </a:pPr>
                      <a:r>
                        <a:rPr lang="en-US" sz="1200" dirty="0">
                          <a:effectLst/>
                          <a:latin typeface="Times New Roman" panose="02020603050405020304" pitchFamily="18" charset="0"/>
                          <a:ea typeface="SimSun" panose="02010600030101010101" pitchFamily="2" charset="-122"/>
                          <a:cs typeface="Times New Roman" panose="02020603050405020304" pitchFamily="18" charset="0"/>
                        </a:rPr>
                        <a:t>Feature Engineering:</a:t>
                      </a:r>
                      <a:endParaRPr lang="en-US" sz="1200" dirty="0">
                        <a:effectLst/>
                        <a:latin typeface="Times New Roman" panose="02020603050405020304" pitchFamily="18" charset="0"/>
                        <a:ea typeface="Batang" panose="02030600000101010101" pitchFamily="18" charset="-127"/>
                        <a:cs typeface="Times New Roman" panose="02020603050405020304" pitchFamily="18" charset="0"/>
                      </a:endParaRPr>
                    </a:p>
                    <a:p>
                      <a:pPr marL="196850" indent="-171450" algn="just">
                        <a:lnSpc>
                          <a:spcPct val="115000"/>
                        </a:lnSpc>
                        <a:buFont typeface="Arial" panose="020B0604020202020204" pitchFamily="34" charset="0"/>
                        <a:buChar char="•"/>
                      </a:pPr>
                      <a:r>
                        <a:rPr lang="en-US" sz="1200" dirty="0">
                          <a:effectLst/>
                          <a:latin typeface="Times New Roman" panose="02020603050405020304" pitchFamily="18" charset="0"/>
                          <a:ea typeface="SimSun" panose="02010600030101010101" pitchFamily="2" charset="-122"/>
                          <a:cs typeface="Times New Roman" panose="02020603050405020304" pitchFamily="18" charset="0"/>
                        </a:rPr>
                        <a:t>Entropy rate features</a:t>
                      </a:r>
                      <a:endParaRPr lang="en-US" sz="1200" dirty="0">
                        <a:effectLst/>
                        <a:latin typeface="Times New Roman" panose="02020603050405020304" pitchFamily="18" charset="0"/>
                        <a:ea typeface="Batang" panose="02030600000101010101" pitchFamily="18" charset="-127"/>
                        <a:cs typeface="Times New Roman" panose="02020603050405020304" pitchFamily="18" charset="0"/>
                      </a:endParaRPr>
                    </a:p>
                    <a:p>
                      <a:pPr marL="196850" indent="-171450" algn="just">
                        <a:lnSpc>
                          <a:spcPct val="115000"/>
                        </a:lnSpc>
                        <a:buFont typeface="Arial" panose="020B0604020202020204" pitchFamily="34" charset="0"/>
                        <a:buChar char="•"/>
                      </a:pPr>
                      <a:r>
                        <a:rPr lang="en-US" sz="1200" dirty="0">
                          <a:effectLst/>
                          <a:latin typeface="Times New Roman" panose="02020603050405020304" pitchFamily="18" charset="0"/>
                          <a:ea typeface="SimSun" panose="02010600030101010101" pitchFamily="2" charset="-122"/>
                          <a:cs typeface="Times New Roman" panose="02020603050405020304" pitchFamily="18" charset="0"/>
                        </a:rPr>
                        <a:t>RR interval features </a:t>
                      </a:r>
                      <a:endParaRPr lang="en-US" sz="1200" dirty="0">
                        <a:effectLst/>
                        <a:latin typeface="Times New Roman" panose="02020603050405020304" pitchFamily="18" charset="0"/>
                        <a:ea typeface="Batang" panose="02030600000101010101" pitchFamily="18" charset="-127"/>
                        <a:cs typeface="Times New Roman" panose="02020603050405020304" pitchFamily="18" charset="0"/>
                      </a:endParaRPr>
                    </a:p>
                    <a:p>
                      <a:pPr marL="0" indent="0" algn="just">
                        <a:lnSpc>
                          <a:spcPct val="115000"/>
                        </a:lnSpc>
                        <a:buFont typeface="Arial" panose="020B0604020202020204" pitchFamily="34" charset="0"/>
                        <a:buNone/>
                      </a:pPr>
                      <a:endParaRPr lang="en-US" sz="1200" dirty="0">
                        <a:effectLst/>
                        <a:latin typeface="Times New Roman" panose="02020603050405020304" pitchFamily="18" charset="0"/>
                        <a:ea typeface="Batang" panose="02030600000101010101" pitchFamily="18" charset="-127"/>
                        <a:cs typeface="Times New Roman" panose="02020603050405020304" pitchFamily="18" charset="0"/>
                      </a:endParaRPr>
                    </a:p>
                  </a:txBody>
                  <a:tcPr marL="68580" marR="68580" marT="0" marB="0"/>
                </a:tc>
                <a:tc>
                  <a:txBody>
                    <a:bodyPr/>
                    <a:lstStyle/>
                    <a:p>
                      <a:pPr algn="just"/>
                      <a:r>
                        <a:rPr lang="en-US" altLang="en-US" sz="1200" b="0">
                          <a:latin typeface="Times New Roman" panose="02020603050405020304" pitchFamily="18" charset="0"/>
                          <a:cs typeface="Times New Roman" panose="02020603050405020304" pitchFamily="18" charset="0"/>
                        </a:rPr>
                        <a:t>This paper is concentrated on detecting the arrhythmia with inter-patient ECG signals with a combination of handcrafted features and deep learning. The authors used entropy-based features and RR interval features to capture variability and complexity of heart rhythms. These attributes were then inputted into a convolutional neural network (CNN) to be classified. The paper had a focus on the management of inter-patient variability so that the model can be effective on various individuals.</a:t>
                      </a:r>
                      <a:endParaRPr lang="en-US" altLang="en-US" sz="1200" b="0" dirty="0">
                        <a:latin typeface="Times New Roman" panose="02020603050405020304" pitchFamily="18" charset="0"/>
                        <a:cs typeface="Times New Roman" panose="02020603050405020304" pitchFamily="18" charset="0"/>
                      </a:endParaRPr>
                    </a:p>
                  </a:txBody>
                  <a:tcPr/>
                </a:tc>
                <a:tc>
                  <a:txBody>
                    <a:bodyPr/>
                    <a:lstStyle/>
                    <a:p>
                      <a:pPr algn="just"/>
                      <a:r>
                        <a:rPr lang="en-US" altLang="en-US" sz="1200" b="0">
                          <a:latin typeface="Times New Roman" panose="02020603050405020304" pitchFamily="18" charset="0"/>
                          <a:cs typeface="Times New Roman" panose="02020603050405020304" pitchFamily="18" charset="0"/>
                        </a:rPr>
                        <a:t>The authors found that the combination of handcrafted attributes like entropy and RR intervals with CNN enhances classification and generalization between patients. The model showed good results in the way it managed differences among various individuals, and it is more applicable to real-world clinical practice.</a:t>
                      </a:r>
                      <a:endParaRPr lang="en-US" altLang="en-US" sz="12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835665">
                <a:tc>
                  <a:txBody>
                    <a:bodyPr/>
                    <a:lstStyle/>
                    <a:p>
                      <a:pPr algn="l"/>
                      <a:r>
                        <a:rPr lang="en-IN" sz="1300" dirty="0">
                          <a:latin typeface="Times New Roman" panose="02020603050405020304" pitchFamily="18" charset="0"/>
                          <a:cs typeface="Times New Roman" panose="02020603050405020304" pitchFamily="18" charset="0"/>
                        </a:rPr>
                        <a:t>4</a:t>
                      </a:r>
                    </a:p>
                  </a:txBody>
                  <a:tcPr/>
                </a:tc>
                <a:tc>
                  <a:txBody>
                    <a:bodyPr/>
                    <a:lstStyle/>
                    <a:p>
                      <a:r>
                        <a:rPr lang="en-US" sz="1200" b="1" kern="1200" dirty="0">
                          <a:solidFill>
                            <a:schemeClr val="dk1"/>
                          </a:solidFill>
                          <a:effectLst/>
                          <a:latin typeface="Times New Roman" panose="02020603050405020304" pitchFamily="18" charset="0"/>
                          <a:ea typeface="+mn-ea"/>
                          <a:cs typeface="Times New Roman" panose="02020603050405020304" pitchFamily="18" charset="0"/>
                        </a:rPr>
                        <a:t>A Historical Survey of Advances in Transformer Architectures </a:t>
                      </a:r>
                    </a:p>
                    <a:p>
                      <a:br>
                        <a:rPr lang="en-US" sz="1800" kern="1200" dirty="0">
                          <a:solidFill>
                            <a:schemeClr val="dk1"/>
                          </a:solidFill>
                          <a:effectLst/>
                          <a:latin typeface="Times New Roman" panose="02020603050405020304" pitchFamily="18" charset="0"/>
                          <a:ea typeface="+mn-ea"/>
                          <a:cs typeface="Times New Roman" panose="02020603050405020304" pitchFamily="18" charset="0"/>
                        </a:rPr>
                      </a:br>
                      <a:r>
                        <a:rPr lang="en-US" sz="1200" kern="1200" dirty="0" err="1">
                          <a:solidFill>
                            <a:schemeClr val="dk1"/>
                          </a:solidFill>
                          <a:effectLst/>
                          <a:latin typeface="Times New Roman" panose="02020603050405020304" pitchFamily="18" charset="0"/>
                          <a:ea typeface="+mn-ea"/>
                          <a:cs typeface="Times New Roman" panose="02020603050405020304" pitchFamily="18" charset="0"/>
                        </a:rPr>
                        <a:t>Sajun</a:t>
                      </a:r>
                      <a:r>
                        <a:rPr lang="en-US" sz="1200" kern="1200" dirty="0">
                          <a:solidFill>
                            <a:schemeClr val="dk1"/>
                          </a:solidFill>
                          <a:effectLst/>
                          <a:latin typeface="Times New Roman" panose="02020603050405020304" pitchFamily="18" charset="0"/>
                          <a:ea typeface="+mn-ea"/>
                          <a:cs typeface="Times New Roman" panose="02020603050405020304" pitchFamily="18" charset="0"/>
                        </a:rPr>
                        <a:t>, A.R. et al.</a:t>
                      </a:r>
                      <a:endParaRPr lang="en-US" sz="1200" b="1" dirty="0">
                        <a:latin typeface="Times New Roman" panose="02020603050405020304" pitchFamily="18" charset="0"/>
                        <a:cs typeface="Times New Roman" panose="02020603050405020304" pitchFamily="18" charset="0"/>
                      </a:endParaRPr>
                    </a:p>
                  </a:txBody>
                  <a:tcPr/>
                </a:tc>
                <a:tc>
                  <a:txBody>
                    <a:bodyPr/>
                    <a:lstStyle/>
                    <a:p>
                      <a:pPr algn="l"/>
                      <a:r>
                        <a:rPr lang="en-IN" sz="1300" dirty="0">
                          <a:latin typeface="Times New Roman" panose="02020603050405020304" pitchFamily="18" charset="0"/>
                          <a:cs typeface="Times New Roman" panose="02020603050405020304" pitchFamily="18" charset="0"/>
                        </a:rPr>
                        <a:t>2024</a:t>
                      </a:r>
                    </a:p>
                  </a:txBody>
                  <a:tcPr/>
                </a:tc>
                <a:tc>
                  <a:txBody>
                    <a:bodyPr/>
                    <a:lstStyle/>
                    <a:p>
                      <a:pPr marL="171450" indent="-171450">
                        <a:buFont typeface="Arial" panose="020B0604020202020204" pitchFamily="34" charset="0"/>
                        <a:buChar char="•"/>
                      </a:pPr>
                      <a:r>
                        <a:rPr lang="en-US" sz="1100" b="0">
                          <a:latin typeface="Times New Roman" panose="02020603050405020304" pitchFamily="18" charset="0"/>
                          <a:cs typeface="Times New Roman" panose="02020603050405020304" pitchFamily="18" charset="0"/>
                        </a:rPr>
                        <a:t>Transformer Architecture</a:t>
                      </a:r>
                    </a:p>
                    <a:p>
                      <a:pPr marL="171450" indent="-171450">
                        <a:buFont typeface="Arial" panose="020B0604020202020204" pitchFamily="34" charset="0"/>
                        <a:buChar char="•"/>
                      </a:pPr>
                      <a:r>
                        <a:rPr lang="en-US" sz="1100" b="0">
                          <a:latin typeface="Times New Roman" panose="02020603050405020304" pitchFamily="18" charset="0"/>
                          <a:cs typeface="Times New Roman" panose="02020603050405020304" pitchFamily="18" charset="0"/>
                        </a:rPr>
                        <a:t>Self-Attention Mechanism</a:t>
                      </a:r>
                    </a:p>
                    <a:p>
                      <a:pPr marL="171450" indent="-171450">
                        <a:buFont typeface="Arial" panose="020B0604020202020204" pitchFamily="34" charset="0"/>
                        <a:buChar char="•"/>
                      </a:pPr>
                      <a:r>
                        <a:rPr lang="en-US" sz="1100" b="0">
                          <a:latin typeface="Times New Roman" panose="02020603050405020304" pitchFamily="18" charset="0"/>
                          <a:cs typeface="Times New Roman" panose="02020603050405020304" pitchFamily="18" charset="0"/>
                        </a:rPr>
                        <a:t>Variants of Transformers</a:t>
                      </a:r>
                      <a:endParaRPr lang="en-US" sz="1100" b="0" dirty="0">
                        <a:latin typeface="Times New Roman" panose="02020603050405020304" pitchFamily="18" charset="0"/>
                        <a:cs typeface="Times New Roman" panose="02020603050405020304" pitchFamily="18" charset="0"/>
                      </a:endParaRPr>
                    </a:p>
                  </a:txBody>
                  <a:tcPr/>
                </a:tc>
                <a:tc>
                  <a:txBody>
                    <a:bodyPr/>
                    <a:lstStyle/>
                    <a:p>
                      <a:pPr algn="just"/>
                      <a:r>
                        <a:rPr lang="en-US" altLang="en-US" sz="1200" b="0">
                          <a:latin typeface="Times New Roman" panose="02020603050405020304" pitchFamily="18" charset="0"/>
                          <a:cs typeface="Times New Roman" panose="02020603050405020304" pitchFamily="18" charset="0"/>
                        </a:rPr>
                        <a:t>The authors had an elaborate survey of the development of Transformer architectures, their development and their usage in sequence modeling tasks. The article provided the mechanism of self-attention and how Transformers can reach the shortcomings of the more traditional sequence models, such as RNNs. It also discussed different variants of Transformers and their implementation in other fields, such as in healthcare and time-series data analysis.</a:t>
                      </a:r>
                      <a:endParaRPr lang="en-US" altLang="en-US" sz="1200" b="0" dirty="0">
                        <a:latin typeface="Times New Roman" panose="02020603050405020304" pitchFamily="18" charset="0"/>
                        <a:cs typeface="Times New Roman" panose="02020603050405020304" pitchFamily="18" charset="0"/>
                      </a:endParaRPr>
                    </a:p>
                  </a:txBody>
                  <a:tcPr/>
                </a:tc>
                <a:tc>
                  <a:txBody>
                    <a:bodyPr/>
                    <a:lstStyle/>
                    <a:p>
                      <a:pPr algn="just"/>
                      <a:r>
                        <a:rPr lang="en-US" altLang="en-US" sz="1200" b="0">
                          <a:latin typeface="Times New Roman" panose="02020603050405020304" pitchFamily="18" charset="0"/>
                          <a:cs typeface="Times New Roman" panose="02020603050405020304" pitchFamily="18" charset="0"/>
                        </a:rPr>
                        <a:t>This paper has found that Transformer architectures are well suited to prediction of sequential data because they can address long range dependencies with self-attention based mechanisms. They perform better than traditional models in a wide range of sequence-based tasks, and are also finding more and more uses in medical signal processing applications, including ECG analysis.</a:t>
                      </a:r>
                      <a:endParaRPr lang="en-US" sz="12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2266923">
                <a:tc>
                  <a:txBody>
                    <a:bodyPr/>
                    <a:lstStyle/>
                    <a:p>
                      <a:pPr algn="l"/>
                      <a:r>
                        <a:rPr lang="en-IN" sz="1300" dirty="0">
                          <a:latin typeface="Times New Roman" panose="02020603050405020304" pitchFamily="18" charset="0"/>
                          <a:cs typeface="Times New Roman" panose="02020603050405020304" pitchFamily="18" charset="0"/>
                        </a:rPr>
                        <a:t>5</a:t>
                      </a:r>
                    </a:p>
                  </a:txBody>
                  <a:tcPr/>
                </a:tc>
                <a:tc>
                  <a:txBody>
                    <a:bodyPr/>
                    <a:lstStyle/>
                    <a:p>
                      <a:pPr algn="l"/>
                      <a:r>
                        <a:rPr lang="fr-FR" sz="1200" b="1" dirty="0">
                          <a:latin typeface="Times New Roman" panose="02020603050405020304" pitchFamily="18" charset="0"/>
                          <a:cs typeface="Times New Roman" panose="02020603050405020304" pitchFamily="18" charset="0"/>
                        </a:rPr>
                        <a:t>ECG Signal Classification </a:t>
                      </a:r>
                      <a:r>
                        <a:rPr lang="fr-FR" sz="1200" b="1" dirty="0" err="1">
                          <a:latin typeface="Times New Roman" panose="02020603050405020304" pitchFamily="18" charset="0"/>
                          <a:cs typeface="Times New Roman" panose="02020603050405020304" pitchFamily="18" charset="0"/>
                        </a:rPr>
                        <a:t>Review</a:t>
                      </a:r>
                      <a:endParaRPr lang="fr-FR" sz="1200" b="1" dirty="0">
                        <a:latin typeface="Times New Roman" panose="02020603050405020304" pitchFamily="18" charset="0"/>
                        <a:cs typeface="Times New Roman" panose="02020603050405020304" pitchFamily="18" charset="0"/>
                      </a:endParaRPr>
                    </a:p>
                    <a:p>
                      <a:pPr algn="l"/>
                      <a:endParaRPr lang="fr-FR" sz="1200" b="1" dirty="0">
                        <a:latin typeface="Times New Roman" panose="02020603050405020304" pitchFamily="18" charset="0"/>
                        <a:cs typeface="Times New Roman" panose="02020603050405020304" pitchFamily="18" charset="0"/>
                      </a:endParaRPr>
                    </a:p>
                    <a:p>
                      <a:pPr algn="l"/>
                      <a:r>
                        <a:rPr lang="fr-FR" sz="1200" b="0" dirty="0" err="1">
                          <a:latin typeface="Times New Roman" panose="02020603050405020304" pitchFamily="18" charset="0"/>
                          <a:cs typeface="Times New Roman" panose="02020603050405020304" pitchFamily="18" charset="0"/>
                        </a:rPr>
                        <a:t>Fikri</a:t>
                      </a:r>
                      <a:r>
                        <a:rPr lang="fr-FR" sz="1200" b="0" dirty="0">
                          <a:latin typeface="Times New Roman" panose="02020603050405020304" pitchFamily="18" charset="0"/>
                          <a:cs typeface="Times New Roman" panose="02020603050405020304" pitchFamily="18" charset="0"/>
                        </a:rPr>
                        <a:t>, M.R. et al.</a:t>
                      </a:r>
                    </a:p>
                  </a:txBody>
                  <a:tcPr/>
                </a:tc>
                <a:tc>
                  <a:txBody>
                    <a:bodyPr/>
                    <a:lstStyle/>
                    <a:p>
                      <a:pPr algn="l"/>
                      <a:r>
                        <a:rPr lang="en-IN" sz="1300" dirty="0">
                          <a:latin typeface="Times New Roman" panose="02020603050405020304" pitchFamily="18" charset="0"/>
                          <a:cs typeface="Times New Roman" panose="02020603050405020304" pitchFamily="18" charset="0"/>
                        </a:rPr>
                        <a:t>2021</a:t>
                      </a:r>
                    </a:p>
                  </a:txBody>
                  <a:tcPr/>
                </a:tc>
                <a:tc>
                  <a:txBody>
                    <a:bodyPr/>
                    <a:lstStyle/>
                    <a:p>
                      <a:pPr marL="171450" indent="-171450">
                        <a:buFont typeface="Arial" panose="020B0604020202020204" pitchFamily="34" charset="0"/>
                        <a:buChar char="•"/>
                      </a:pPr>
                      <a:r>
                        <a:rPr lang="en-US" sz="1200" b="0" dirty="0">
                          <a:latin typeface="Times New Roman" panose="02020603050405020304" pitchFamily="18" charset="0"/>
                          <a:cs typeface="Times New Roman" panose="02020603050405020304" pitchFamily="18" charset="0"/>
                        </a:rPr>
                        <a:t>Machine Learning (SVM, KNN)</a:t>
                      </a:r>
                    </a:p>
                    <a:p>
                      <a:pPr marL="171450" indent="-171450">
                        <a:buFont typeface="Arial" panose="020B0604020202020204" pitchFamily="34" charset="0"/>
                        <a:buChar char="•"/>
                      </a:pPr>
                      <a:r>
                        <a:rPr lang="en-US" sz="1200" b="0" dirty="0">
                          <a:latin typeface="Times New Roman" panose="02020603050405020304" pitchFamily="18" charset="0"/>
                          <a:cs typeface="Times New Roman" panose="02020603050405020304" pitchFamily="18" charset="0"/>
                        </a:rPr>
                        <a:t>Deep Learning (CNN, RNN)</a:t>
                      </a:r>
                    </a:p>
                    <a:p>
                      <a:pPr algn="l"/>
                      <a:endParaRPr lang="en-IN" sz="13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sz="1200" b="0">
                          <a:latin typeface="Times New Roman" panose="02020603050405020304" pitchFamily="18" charset="0"/>
                          <a:cs typeface="Times New Roman" panose="02020603050405020304" pitchFamily="18" charset="0"/>
                        </a:rPr>
                        <a:t>The paper has introduced an in-depth survey of the ECG signal classification algorithms, including the classical machine learning algorithms and the latest deep learning algorithms. The authors examined different algorithms including support vector machines, k-nearest neighbors, convolutional neural networks and recurrent neural networks. They have also addressed various preprocessing, datasets and evaluation methods of the ECG classification studies.</a:t>
                      </a:r>
                      <a:endParaRPr lang="en-US" altLang="en-US" sz="1200" b="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en-US" sz="1200" b="0">
                          <a:latin typeface="Times New Roman" panose="02020603050405020304" pitchFamily="18" charset="0"/>
                          <a:cs typeface="Times New Roman" panose="02020603050405020304" pitchFamily="18" charset="0"/>
                        </a:rPr>
                        <a:t>The review showed that the deep learning techniques, especially CNN and RNN-based models are better at ECGs classification tasks than conventional machine learning techniques. Nevertheless, there are still challenges like data quality, computational complexity, and implementation requirements that are required to be real-time. The research has emphasized the need to come up with more effective and precise models that can be used in the clinical context.</a:t>
                      </a:r>
                      <a:endParaRPr lang="en-US" altLang="en-US" sz="12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420" y="359559"/>
            <a:ext cx="10515600" cy="506730"/>
          </a:xfrm>
        </p:spPr>
        <p:txBody>
          <a:bodyPr>
            <a:normAutofit fontScale="90000"/>
          </a:bodyPr>
          <a:lstStyle/>
          <a:p>
            <a:r>
              <a:rPr lang="en-US" sz="3555" b="1" dirty="0">
                <a:latin typeface="Times New Roman" panose="02020603050405020304" pitchFamily="18" charset="0"/>
                <a:cs typeface="Times New Roman" panose="02020603050405020304" pitchFamily="18" charset="0"/>
              </a:rPr>
              <a:t>Datasets and Requirements</a:t>
            </a:r>
          </a:p>
        </p:txBody>
      </p:sp>
      <p:sp>
        <p:nvSpPr>
          <p:cNvPr id="3" name="Content Placeholder 2"/>
          <p:cNvSpPr>
            <a:spLocks noGrp="1"/>
          </p:cNvSpPr>
          <p:nvPr>
            <p:ph idx="1"/>
          </p:nvPr>
        </p:nvSpPr>
        <p:spPr>
          <a:xfrm>
            <a:off x="693420" y="1087008"/>
            <a:ext cx="10515600" cy="4904703"/>
          </a:xfrm>
        </p:spPr>
        <p:txBody>
          <a:bodyPr/>
          <a:lstStyle/>
          <a:p>
            <a:pPr marL="0" indent="0">
              <a:buNone/>
            </a:pPr>
            <a:r>
              <a:rPr lang="en-US" sz="2400" b="1" dirty="0">
                <a:latin typeface="Times New Roman" panose="02020603050405020304" pitchFamily="18" charset="0"/>
                <a:cs typeface="Times New Roman" panose="02020603050405020304" pitchFamily="18" charset="0"/>
              </a:rPr>
              <a:t>Datasets:</a:t>
            </a:r>
          </a:p>
          <a:p>
            <a:pPr marL="0" indent="0">
              <a:buNone/>
            </a:pPr>
            <a:r>
              <a:rPr lang="en-US" altLang="en-US" sz="2400" b="1" dirty="0">
                <a:latin typeface="Times New Roman" panose="02020603050405020304" pitchFamily="18" charset="0"/>
                <a:cs typeface="Times New Roman" panose="02020603050405020304" pitchFamily="18" charset="0"/>
              </a:rPr>
              <a:t>PTB-XL ECG Dataset:</a:t>
            </a:r>
          </a:p>
          <a:p>
            <a:r>
              <a:rPr lang="en-US" altLang="en-US" sz="2400" dirty="0">
                <a:latin typeface="Times New Roman" panose="02020603050405020304" pitchFamily="18" charset="0"/>
                <a:cs typeface="Times New Roman" panose="02020603050405020304" pitchFamily="18" charset="0"/>
              </a:rPr>
              <a:t>A large dataset with 21,000+ ECG records from 18,000 patients.</a:t>
            </a:r>
          </a:p>
          <a:p>
            <a:r>
              <a:rPr lang="en-US" altLang="en-US" sz="2400" dirty="0">
                <a:latin typeface="Times New Roman" panose="02020603050405020304" pitchFamily="18" charset="0"/>
                <a:cs typeface="Times New Roman" panose="02020603050405020304" pitchFamily="18" charset="0"/>
              </a:rPr>
              <a:t>Contains 12-lead ECG signals labeled with multiple heart conditions.</a:t>
            </a:r>
          </a:p>
          <a:p>
            <a:pPr marL="0" indent="0">
              <a:buNone/>
            </a:pPr>
            <a:endParaRPr lang="en-US" alt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Requirements:</a:t>
            </a:r>
          </a:p>
          <a:p>
            <a:pPr marL="0" indent="0">
              <a:buNone/>
            </a:pPr>
            <a:r>
              <a:rPr lang="en-US" altLang="en-US" sz="2400" b="1" dirty="0">
                <a:latin typeface="Times New Roman" panose="02020603050405020304" pitchFamily="18" charset="0"/>
                <a:cs typeface="Times New Roman" panose="02020603050405020304" pitchFamily="18" charset="0"/>
              </a:rPr>
              <a:t>Hardware Requirements:</a:t>
            </a:r>
            <a:endParaRPr lang="en-US" altLang="en-US" sz="2825"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Minimum 8 GB RAM</a:t>
            </a:r>
          </a:p>
          <a:p>
            <a:r>
              <a:rPr lang="en-US" altLang="en-US" sz="2400" dirty="0">
                <a:latin typeface="Times New Roman" panose="02020603050405020304" pitchFamily="18" charset="0"/>
                <a:cs typeface="Times New Roman" panose="02020603050405020304" pitchFamily="18" charset="0"/>
              </a:rPr>
              <a:t>GPU with ≥ 8 GB VRAM</a:t>
            </a:r>
          </a:p>
          <a:p>
            <a:pPr marL="0" indent="0">
              <a:buNone/>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9133" y="476748"/>
            <a:ext cx="10515600" cy="5598160"/>
          </a:xfrm>
        </p:spPr>
        <p:txBody>
          <a:bodyPr>
            <a:normAutofit/>
          </a:bodyPr>
          <a:lstStyle/>
          <a:p>
            <a:pPr marL="0" indent="0">
              <a:buNone/>
            </a:pPr>
            <a:endParaRPr lang="en-US" altLang="en-US" sz="2825" dirty="0">
              <a:latin typeface="Times New Roman" panose="02020603050405020304" pitchFamily="18" charset="0"/>
              <a:cs typeface="Times New Roman" panose="02020603050405020304" pitchFamily="18" charset="0"/>
            </a:endParaRPr>
          </a:p>
          <a:p>
            <a:pPr marL="0" indent="0">
              <a:buNone/>
            </a:pPr>
            <a:r>
              <a:rPr lang="en-US" altLang="en-US" sz="2400" b="1" dirty="0">
                <a:latin typeface="Times New Roman" panose="02020603050405020304" pitchFamily="18" charset="0"/>
                <a:cs typeface="Times New Roman" panose="02020603050405020304" pitchFamily="18" charset="0"/>
              </a:rPr>
              <a:t>Software Tools:</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Python 3.9 -Programming language</a:t>
            </a:r>
          </a:p>
          <a:p>
            <a:r>
              <a:rPr lang="en-US" altLang="en-US" sz="2400" dirty="0">
                <a:latin typeface="Times New Roman" panose="02020603050405020304" pitchFamily="18" charset="0"/>
                <a:cs typeface="Times New Roman" panose="02020603050405020304" pitchFamily="18" charset="0"/>
              </a:rPr>
              <a:t>PyTorch &amp; PyTorch Geometric - CNN model implementation &amp; training</a:t>
            </a:r>
          </a:p>
          <a:p>
            <a:r>
              <a:rPr lang="en-US" altLang="en-US" sz="2400" dirty="0">
                <a:latin typeface="Times New Roman" panose="02020603050405020304" pitchFamily="18" charset="0"/>
                <a:cs typeface="Times New Roman" panose="02020603050405020304" pitchFamily="18" charset="0"/>
              </a:rPr>
              <a:t>NumPy &amp; Pandas - Data handling &amp; processing</a:t>
            </a:r>
          </a:p>
          <a:p>
            <a:r>
              <a:rPr lang="en-US" altLang="en-US" sz="2400" dirty="0">
                <a:latin typeface="Times New Roman" panose="02020603050405020304" pitchFamily="18" charset="0"/>
                <a:cs typeface="Times New Roman" panose="02020603050405020304" pitchFamily="18" charset="0"/>
                <a:sym typeface="+mn-ea"/>
              </a:rPr>
              <a:t>Matplotlib &amp; Seaborn – Visualization</a:t>
            </a:r>
          </a:p>
          <a:p>
            <a:r>
              <a:rPr lang="en-US" altLang="en-US" sz="2400" dirty="0" err="1">
                <a:latin typeface="Times New Roman" panose="02020603050405020304" pitchFamily="18" charset="0"/>
                <a:cs typeface="Times New Roman" panose="02020603050405020304" pitchFamily="18" charset="0"/>
                <a:sym typeface="+mn-ea"/>
              </a:rPr>
              <a:t>Scikit</a:t>
            </a:r>
            <a:r>
              <a:rPr lang="en-US" altLang="en-US" sz="2400" dirty="0">
                <a:latin typeface="Times New Roman" panose="02020603050405020304" pitchFamily="18" charset="0"/>
                <a:cs typeface="Times New Roman" panose="02020603050405020304" pitchFamily="18" charset="0"/>
                <a:sym typeface="+mn-ea"/>
              </a:rPr>
              <a:t>-learn - Model evaluation &amp; metrics</a:t>
            </a:r>
          </a:p>
          <a:p>
            <a:r>
              <a:rPr lang="en-US" altLang="en-US" sz="2400" dirty="0">
                <a:latin typeface="Times New Roman" panose="02020603050405020304" pitchFamily="18" charset="0"/>
                <a:cs typeface="Times New Roman" panose="02020603050405020304" pitchFamily="18" charset="0"/>
                <a:sym typeface="+mn-ea"/>
              </a:rPr>
              <a:t>Google </a:t>
            </a:r>
            <a:r>
              <a:rPr lang="en-US" altLang="en-US" sz="2400" dirty="0" err="1">
                <a:latin typeface="Times New Roman" panose="02020603050405020304" pitchFamily="18" charset="0"/>
                <a:cs typeface="Times New Roman" panose="02020603050405020304" pitchFamily="18" charset="0"/>
                <a:sym typeface="+mn-ea"/>
              </a:rPr>
              <a:t>Colab</a:t>
            </a:r>
            <a:r>
              <a:rPr lang="en-US" altLang="en-US" sz="2400" dirty="0">
                <a:latin typeface="Times New Roman" panose="02020603050405020304" pitchFamily="18" charset="0"/>
                <a:cs typeface="Times New Roman" panose="02020603050405020304" pitchFamily="18" charset="0"/>
                <a:sym typeface="+mn-ea"/>
              </a:rPr>
              <a:t> / Kaggle Notebook - Development environment</a:t>
            </a:r>
          </a:p>
          <a:p>
            <a:endParaRPr lang="en-US" altLang="en-US" sz="2525"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EEEC5-9AED-4285-9E10-0DC92519C5C5}"/>
              </a:ext>
            </a:extLst>
          </p:cNvPr>
          <p:cNvSpPr txBox="1"/>
          <p:nvPr/>
        </p:nvSpPr>
        <p:spPr>
          <a:xfrm>
            <a:off x="261878" y="62345"/>
            <a:ext cx="3818965"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Algorithms</a:t>
            </a:r>
            <a:r>
              <a:rPr lang="en-US" sz="3200" b="1" dirty="0"/>
              <a:t> </a:t>
            </a:r>
            <a:r>
              <a:rPr lang="en-US" sz="3200" b="1" dirty="0">
                <a:latin typeface="Times New Roman" panose="02020603050405020304" pitchFamily="18" charset="0"/>
                <a:cs typeface="Times New Roman" panose="02020603050405020304" pitchFamily="18" charset="0"/>
              </a:rPr>
              <a:t>Involved</a:t>
            </a:r>
            <a:endParaRPr lang="en-US" sz="32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79F43F3B-4B4D-4CED-A79C-F048B43AE39D}"/>
              </a:ext>
            </a:extLst>
          </p:cNvPr>
          <p:cNvCxnSpPr>
            <a:cxnSpLocks/>
          </p:cNvCxnSpPr>
          <p:nvPr/>
        </p:nvCxnSpPr>
        <p:spPr>
          <a:xfrm>
            <a:off x="6095999" y="764309"/>
            <a:ext cx="1" cy="5756564"/>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AC84B9FE-A959-4D50-95EF-26B56CB68927}"/>
                  </a:ext>
                </a:extLst>
              </p:cNvPr>
              <p:cNvSpPr/>
              <p:nvPr/>
            </p:nvSpPr>
            <p:spPr>
              <a:xfrm>
                <a:off x="6188364" y="764309"/>
                <a:ext cx="5834122" cy="5788188"/>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Algorithm:</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GAT (Graph Attention Network)</a:t>
                </a:r>
              </a:p>
              <a:p>
                <a:r>
                  <a:rPr lang="en-US" b="1" dirty="0">
                    <a:latin typeface="Times New Roman" panose="02020603050405020304" pitchFamily="18" charset="0"/>
                    <a:cs typeface="Times New Roman" panose="02020603050405020304" pitchFamily="18" charset="0"/>
                  </a:rPr>
                  <a:t>Input: </a:t>
                </a:r>
                <a:r>
                  <a:rPr lang="en-US" dirty="0">
                    <a:latin typeface="Times New Roman" panose="02020603050405020304" pitchFamily="18" charset="0"/>
                    <a:cs typeface="Times New Roman" panose="02020603050405020304" pitchFamily="18" charset="0"/>
                  </a:rPr>
                  <a:t>Graph dataset 𝐷={(𝐺𝑖,𝑦𝑖)}, learning rate 𝜂</a:t>
                </a:r>
                <a:r>
                  <a:rPr lang="el-G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epochs 𝑁.</a:t>
                </a:r>
              </a:p>
              <a:p>
                <a:r>
                  <a:rPr lang="en-US" b="1" dirty="0">
                    <a:latin typeface="Times New Roman" panose="02020603050405020304" pitchFamily="18" charset="0"/>
                    <a:cs typeface="Times New Roman" panose="02020603050405020304" pitchFamily="18" charset="0"/>
                  </a:rPr>
                  <a:t>Output: </a:t>
                </a:r>
                <a:r>
                  <a:rPr lang="en-US" dirty="0">
                    <a:latin typeface="Times New Roman" panose="02020603050405020304" pitchFamily="18" charset="0"/>
                    <a:cs typeface="Times New Roman" panose="02020603050405020304" pitchFamily="18" charset="0"/>
                  </a:rPr>
                  <a:t>Trained GAT model 𝑀.</a:t>
                </a:r>
              </a:p>
              <a:p>
                <a:endParaRPr 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IN" b="1" dirty="0">
                    <a:latin typeface="Times New Roman" panose="02020603050405020304" pitchFamily="18" charset="0"/>
                    <a:cs typeface="Times New Roman" panose="02020603050405020304" pitchFamily="18" charset="0"/>
                  </a:rPr>
                  <a:t>M</a:t>
                </a:r>
                <a:r>
                  <a:rPr lang="en-US" b="1" dirty="0" err="1">
                    <a:latin typeface="Times New Roman" panose="02020603050405020304" pitchFamily="18" charset="0"/>
                    <a:cs typeface="Times New Roman" panose="02020603050405020304" pitchFamily="18" charset="0"/>
                  </a:rPr>
                  <a:t>ethod</a:t>
                </a:r>
                <a:r>
                  <a:rPr lang="en-US" b="1" dirty="0">
                    <a:latin typeface="Times New Roman" panose="02020603050405020304" pitchFamily="18" charset="0"/>
                    <a:cs typeface="Times New Roman" panose="02020603050405020304" pitchFamily="18" charset="0"/>
                  </a:rPr>
                  <a:t>:</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Initialize GAT parameters </a:t>
                </a:r>
                <a14:m>
                  <m:oMath xmlns:m="http://schemas.openxmlformats.org/officeDocument/2006/math">
                    <m:r>
                      <m:rPr>
                        <m:sty m:val="p"/>
                      </m:rPr>
                      <a:rPr lang="el-GR" i="1">
                        <a:latin typeface="Cambria Math" panose="02040503050406030204" pitchFamily="18" charset="0"/>
                        <a:ea typeface="Cambria Math" panose="02040503050406030204" pitchFamily="18" charset="0"/>
                        <a:cs typeface="Times New Roman" panose="02020603050405020304" pitchFamily="18" charset="0"/>
                      </a:rPr>
                      <m:t>Θ</m:t>
                    </m:r>
                  </m:oMath>
                </a14:m>
                <a:r>
                  <a:rPr lang="en-US" altLang="en-US" dirty="0">
                    <a:latin typeface="Times New Roman" panose="02020603050405020304" pitchFamily="18" charset="0"/>
                    <a:cs typeface="Times New Roman" panose="02020603050405020304" pitchFamily="18" charset="0"/>
                  </a:rPr>
                  <a:t>.</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Linear transformation:</a:t>
                </a:r>
              </a:p>
              <a:p>
                <a:pPr lvl="1"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en-US" i="1" smtClean="0">
                            <a:latin typeface="Cambria Math" panose="02040503050406030204" pitchFamily="18" charset="0"/>
                            <a:cs typeface="Times New Roman" panose="02020603050405020304" pitchFamily="18" charset="0"/>
                          </a:rPr>
                        </m:ctrlPr>
                      </m:sSubPr>
                      <m:e>
                        <m:r>
                          <a:rPr lang="en-IN" altLang="en-US" b="0" i="1" smtClean="0">
                            <a:latin typeface="Cambria Math" panose="02040503050406030204" pitchFamily="18" charset="0"/>
                            <a:cs typeface="Times New Roman" panose="02020603050405020304" pitchFamily="18" charset="0"/>
                          </a:rPr>
                          <m:t>h</m:t>
                        </m:r>
                      </m:e>
                      <m:sub>
                        <m:r>
                          <a:rPr lang="en-IN" altLang="en-US" b="0" i="1" smtClean="0">
                            <a:latin typeface="Cambria Math" panose="02040503050406030204" pitchFamily="18" charset="0"/>
                            <a:cs typeface="Times New Roman" panose="02020603050405020304" pitchFamily="18" charset="0"/>
                          </a:rPr>
                          <m:t>𝑣</m:t>
                        </m:r>
                      </m:sub>
                    </m:sSub>
                    <m:r>
                      <a:rPr lang="en-IN" altLang="en-US" b="0" i="1" smtClean="0">
                        <a:latin typeface="Cambria Math" panose="02040503050406030204" pitchFamily="18" charset="0"/>
                        <a:cs typeface="Times New Roman" panose="02020603050405020304" pitchFamily="18" charset="0"/>
                      </a:rPr>
                      <m:t>=</m:t>
                    </m:r>
                    <m:r>
                      <a:rPr lang="en-IN" altLang="en-US" b="0" i="1" smtClean="0">
                        <a:latin typeface="Cambria Math" panose="02040503050406030204" pitchFamily="18" charset="0"/>
                        <a:cs typeface="Times New Roman" panose="02020603050405020304" pitchFamily="18" charset="0"/>
                      </a:rPr>
                      <m:t>𝑊</m:t>
                    </m:r>
                    <m:sSub>
                      <m:sSubPr>
                        <m:ctrlPr>
                          <a:rPr lang="en-IN" altLang="en-US" b="0" i="1" smtClean="0">
                            <a:latin typeface="Cambria Math" panose="02040503050406030204" pitchFamily="18" charset="0"/>
                            <a:cs typeface="Times New Roman" panose="02020603050405020304" pitchFamily="18" charset="0"/>
                          </a:rPr>
                        </m:ctrlPr>
                      </m:sSubPr>
                      <m:e>
                        <m:r>
                          <a:rPr lang="en-IN" altLang="en-US" b="0" i="1" smtClean="0">
                            <a:latin typeface="Cambria Math" panose="02040503050406030204" pitchFamily="18" charset="0"/>
                            <a:cs typeface="Times New Roman" panose="02020603050405020304" pitchFamily="18" charset="0"/>
                          </a:rPr>
                          <m:t>𝑥</m:t>
                        </m:r>
                      </m:e>
                      <m:sub>
                        <m:r>
                          <a:rPr lang="en-IN" altLang="en-US" b="0" i="1" smtClean="0">
                            <a:latin typeface="Cambria Math" panose="02040503050406030204" pitchFamily="18" charset="0"/>
                            <a:cs typeface="Times New Roman" panose="02020603050405020304" pitchFamily="18" charset="0"/>
                          </a:rPr>
                          <m:t>𝑣</m:t>
                        </m:r>
                      </m:sub>
                    </m:sSub>
                  </m:oMath>
                </a14:m>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Attention coefficients:</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𝑖𝑗</m:t>
                        </m:r>
                      </m:sub>
                    </m:sSub>
                    <m:r>
                      <a:rPr lang="en-US">
                        <a:latin typeface="Cambria Math" panose="02040503050406030204" pitchFamily="18" charset="0"/>
                      </a:rPr>
                      <m:t>=</m:t>
                    </m:r>
                    <m:f>
                      <m:fPr>
                        <m:ctrlPr>
                          <a:rPr lang="en-US" i="1">
                            <a:latin typeface="Cambria Math" panose="02040503050406030204" pitchFamily="18" charset="0"/>
                          </a:rPr>
                        </m:ctrlPr>
                      </m:fPr>
                      <m:num>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r>
                                  <a:rPr lang="en-US" i="1">
                                    <a:latin typeface="Cambria Math" panose="02040503050406030204" pitchFamily="18" charset="0"/>
                                  </a:rPr>
                                  <m:t>𝐿𝑒𝑎𝑘𝑦𝑅𝑒𝐿𝑈</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𝑇</m:t>
                                        </m:r>
                                      </m:sup>
                                    </m:sSup>
                                    <m:d>
                                      <m:dPr>
                                        <m:begChr m:val="["/>
                                        <m:endChr m:val="]"/>
                                        <m:ctrlPr>
                                          <a:rPr lang="en-US" i="1">
                                            <a:latin typeface="Cambria Math" panose="02040503050406030204" pitchFamily="18" charset="0"/>
                                          </a:rPr>
                                        </m:ctrlPr>
                                      </m:dPr>
                                      <m:e>
                                        <m:r>
                                          <a:rPr lang="en-US" i="1">
                                            <a:latin typeface="Cambria Math" panose="02040503050406030204" pitchFamily="18" charset="0"/>
                                          </a:rPr>
                                          <m:t>𝑊</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𝑖</m:t>
                                            </m:r>
                                          </m:sub>
                                        </m:sSub>
                                        <m:r>
                                          <a:rPr lang="en-US">
                                            <a:latin typeface="Cambria Math" panose="02040503050406030204" pitchFamily="18" charset="0"/>
                                          </a:rPr>
                                          <m:t>∥</m:t>
                                        </m:r>
                                        <m:r>
                                          <a:rPr lang="en-US" i="1">
                                            <a:latin typeface="Cambria Math" panose="02040503050406030204" pitchFamily="18" charset="0"/>
                                          </a:rPr>
                                          <m:t>𝑊</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𝑗</m:t>
                                            </m:r>
                                          </m:sub>
                                        </m:sSub>
                                      </m:e>
                                    </m:d>
                                  </m:e>
                                </m:d>
                              </m:e>
                            </m:d>
                          </m:e>
                        </m:func>
                      </m:num>
                      <m:den>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𝑘</m:t>
                            </m:r>
                            <m:r>
                              <a:rPr lang="en-US">
                                <a:latin typeface="Cambria Math" panose="02040503050406030204" pitchFamily="18" charset="0"/>
                              </a:rPr>
                              <m:t>∈</m:t>
                            </m:r>
                            <m:r>
                              <a:rPr lang="en-US" i="1">
                                <a:latin typeface="Cambria Math" panose="02040503050406030204" pitchFamily="18" charset="0"/>
                              </a:rPr>
                              <m:t>𝒩</m:t>
                            </m:r>
                            <m:d>
                              <m:dPr>
                                <m:ctrlPr>
                                  <a:rPr lang="en-US" i="1">
                                    <a:latin typeface="Cambria Math" panose="02040503050406030204" pitchFamily="18" charset="0"/>
                                  </a:rPr>
                                </m:ctrlPr>
                              </m:dPr>
                              <m:e>
                                <m:r>
                                  <a:rPr lang="en-US" i="1">
                                    <a:latin typeface="Cambria Math" panose="02040503050406030204" pitchFamily="18" charset="0"/>
                                  </a:rPr>
                                  <m:t>𝑖</m:t>
                                </m:r>
                              </m:e>
                            </m:d>
                          </m:sub>
                          <m:sup/>
                          <m:e>
                            <m:r>
                              <m:rPr>
                                <m:sty m:val="p"/>
                              </m:rPr>
                              <a:rPr lang="en-US">
                                <a:latin typeface="Cambria Math" panose="02040503050406030204" pitchFamily="18" charset="0"/>
                              </a:rPr>
                              <m:t>exp</m:t>
                            </m:r>
                            <m:r>
                              <a:rPr lang="en-US">
                                <a:latin typeface="Cambria Math" panose="02040503050406030204" pitchFamily="18" charset="0"/>
                              </a:rPr>
                              <m:t>(</m:t>
                            </m:r>
                            <m:r>
                              <a:rPr lang="en-US" i="1">
                                <a:latin typeface="Cambria Math" panose="02040503050406030204" pitchFamily="18" charset="0"/>
                              </a:rPr>
                              <m:t>𝐿𝑒𝑎𝑘𝑦𝑅𝑒𝐿𝑈</m:t>
                            </m:r>
                            <m:r>
                              <a:rPr lang="en-US">
                                <a:latin typeface="Cambria Math" panose="02040503050406030204" pitchFamily="18" charset="0"/>
                              </a:rPr>
                              <m:t>(</m:t>
                            </m:r>
                          </m:e>
                        </m:nary>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𝑇</m:t>
                            </m:r>
                          </m:sup>
                        </m:sSup>
                        <m:r>
                          <a:rPr lang="en-US">
                            <a:latin typeface="Cambria Math" panose="02040503050406030204" pitchFamily="18" charset="0"/>
                          </a:rPr>
                          <m:t>[</m:t>
                        </m:r>
                        <m:r>
                          <a:rPr lang="en-US" i="1">
                            <a:latin typeface="Cambria Math" panose="02040503050406030204" pitchFamily="18" charset="0"/>
                          </a:rPr>
                          <m:t>𝑊</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𝑖</m:t>
                            </m:r>
                          </m:sub>
                        </m:sSub>
                        <m:r>
                          <a:rPr lang="en-US">
                            <a:latin typeface="Cambria Math" panose="02040503050406030204" pitchFamily="18" charset="0"/>
                          </a:rPr>
                          <m:t>∥</m:t>
                        </m:r>
                        <m:r>
                          <a:rPr lang="en-US" i="1">
                            <a:latin typeface="Cambria Math" panose="02040503050406030204" pitchFamily="18" charset="0"/>
                          </a:rPr>
                          <m:t>𝑊</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𝑘</m:t>
                            </m:r>
                          </m:sub>
                        </m:sSub>
                        <m:r>
                          <a:rPr lang="en-US">
                            <a:latin typeface="Cambria Math" panose="02040503050406030204" pitchFamily="18" charset="0"/>
                          </a:rPr>
                          <m:t>]))</m:t>
                        </m:r>
                      </m:den>
                    </m:f>
                  </m:oMath>
                </a14:m>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ode update rule:</a:t>
                </a:r>
              </a:p>
              <a:p>
                <a:pPr lvl="1"/>
                <a:r>
                  <a:rPr lang="en-IN" dirty="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IN" i="1" smtClean="0">
                            <a:latin typeface="Cambria Math" panose="02040503050406030204" pitchFamily="18" charset="0"/>
                            <a:cs typeface="Times New Roman" panose="02020603050405020304" pitchFamily="18" charset="0"/>
                          </a:rPr>
                        </m:ctrlPr>
                      </m:sSubSupPr>
                      <m:e>
                        <m:r>
                          <a:rPr lang="en-IN" b="0" i="1" smtClean="0">
                            <a:latin typeface="Cambria Math" panose="02040503050406030204" pitchFamily="18" charset="0"/>
                            <a:cs typeface="Times New Roman" panose="02020603050405020304" pitchFamily="18" charset="0"/>
                          </a:rPr>
                          <m:t>h</m:t>
                        </m:r>
                      </m:e>
                      <m:sub>
                        <m:r>
                          <a:rPr lang="en-IN" b="0" i="1" smtClean="0">
                            <a:latin typeface="Cambria Math" panose="02040503050406030204" pitchFamily="18" charset="0"/>
                            <a:cs typeface="Times New Roman" panose="02020603050405020304" pitchFamily="18" charset="0"/>
                          </a:rPr>
                          <m:t>𝑣</m:t>
                        </m:r>
                      </m:sub>
                      <m:sup>
                        <m:r>
                          <m:rPr>
                            <m:nor/>
                          </m:rPr>
                          <a:rPr lang="en-US">
                            <a:latin typeface="Cambria Math" panose="02040503050406030204" pitchFamily="18" charset="0"/>
                          </a:rPr>
                          <m:t>′​</m:t>
                        </m:r>
                      </m:sup>
                    </m:sSubSup>
                    <m:r>
                      <a:rPr lang="en-IN" b="0" i="1" smtClean="0">
                        <a:latin typeface="Cambria Math" panose="02040503050406030204" pitchFamily="18" charset="0"/>
                        <a:cs typeface="Times New Roman" panose="02020603050405020304" pitchFamily="18" charset="0"/>
                      </a:rPr>
                      <m:t>= </m:t>
                    </m:r>
                    <m:r>
                      <a:rPr lang="en-IN" b="0" i="1" smtClean="0">
                        <a:latin typeface="Cambria Math" panose="02040503050406030204" pitchFamily="18" charset="0"/>
                        <a:ea typeface="Cambria Math" panose="02040503050406030204" pitchFamily="18" charset="0"/>
                        <a:cs typeface="Times New Roman" panose="02020603050405020304" pitchFamily="18" charset="0"/>
                      </a:rPr>
                      <m:t>𝜎</m:t>
                    </m:r>
                    <m:r>
                      <a:rPr lang="en-IN" b="0" i="1" smtClean="0">
                        <a:latin typeface="Cambria Math" panose="02040503050406030204" pitchFamily="18" charset="0"/>
                        <a:ea typeface="Cambria Math" panose="02040503050406030204" pitchFamily="18" charset="0"/>
                        <a:cs typeface="Times New Roman" panose="02020603050405020304" pitchFamily="18" charset="0"/>
                      </a:rPr>
                      <m:t>(</m:t>
                    </m:r>
                    <m:nary>
                      <m:naryPr>
                        <m:chr m:val="∑"/>
                        <m:supHide m:val="on"/>
                        <m:ctrlPr>
                          <a:rPr lang="en-IN" b="0" i="1" smtClean="0">
                            <a:latin typeface="Cambria Math" panose="02040503050406030204" pitchFamily="18" charset="0"/>
                            <a:ea typeface="Cambria Math" panose="02040503050406030204" pitchFamily="18" charset="0"/>
                            <a:cs typeface="Times New Roman" panose="02020603050405020304" pitchFamily="18" charset="0"/>
                          </a:rPr>
                        </m:ctrlPr>
                      </m:naryPr>
                      <m:sub>
                        <m:r>
                          <m:rPr>
                            <m:brk m:alnAt="7"/>
                          </m:rPr>
                          <a:rPr lang="en-IN" b="0" i="1" smtClean="0">
                            <a:latin typeface="Cambria Math" panose="02040503050406030204" pitchFamily="18" charset="0"/>
                            <a:ea typeface="Cambria Math" panose="02040503050406030204" pitchFamily="18" charset="0"/>
                            <a:cs typeface="Times New Roman" panose="02020603050405020304" pitchFamily="18" charset="0"/>
                          </a:rPr>
                          <m:t>𝑢</m:t>
                        </m:r>
                        <m:r>
                          <a:rPr lang="en-IN" b="0" i="1" smtClean="0">
                            <a:latin typeface="Cambria Math" panose="02040503050406030204" pitchFamily="18" charset="0"/>
                            <a:ea typeface="Cambria Math" panose="02040503050406030204" pitchFamily="18" charset="0"/>
                            <a:cs typeface="Times New Roman" panose="02020603050405020304" pitchFamily="18" charset="0"/>
                          </a:rPr>
                          <m:t>∈</m:t>
                        </m:r>
                        <m:r>
                          <a:rPr lang="en-IN" i="1">
                            <a:latin typeface="Cambria Math" panose="02040503050406030204" pitchFamily="18" charset="0"/>
                            <a:ea typeface="Cambria Math" panose="02040503050406030204" pitchFamily="18" charset="0"/>
                            <a:cs typeface="Times New Roman" panose="02020603050405020304" pitchFamily="18" charset="0"/>
                          </a:rPr>
                          <m:t>𝑁</m:t>
                        </m:r>
                        <m:d>
                          <m:dPr>
                            <m:ctrlPr>
                              <a:rPr lang="en-IN"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𝑣</m:t>
                            </m:r>
                          </m:e>
                        </m:d>
                      </m:sub>
                      <m:sup/>
                      <m:e>
                        <m:r>
                          <a:rPr lang="en-IN" i="1">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IN"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IN"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n-IN" b="0" i="1" smtClean="0">
                                <a:latin typeface="Cambria Math" panose="02040503050406030204" pitchFamily="18" charset="0"/>
                                <a:ea typeface="Cambria Math" panose="02040503050406030204" pitchFamily="18" charset="0"/>
                                <a:cs typeface="Times New Roman" panose="02020603050405020304" pitchFamily="18" charset="0"/>
                              </a:rPr>
                              <m:t>𝑣𝑢</m:t>
                            </m:r>
                          </m:sub>
                          <m:sup>
                            <m:r>
                              <a:rPr lang="en-IN" b="0" i="1" smtClean="0">
                                <a:latin typeface="Cambria Math" panose="02040503050406030204" pitchFamily="18" charset="0"/>
                                <a:ea typeface="Cambria Math" panose="02040503050406030204" pitchFamily="18" charset="0"/>
                                <a:cs typeface="Times New Roman" panose="02020603050405020304" pitchFamily="18" charset="0"/>
                              </a:rPr>
                              <m:t>𝑚</m:t>
                            </m:r>
                          </m:sup>
                        </m:sSubSup>
                        <m:sSup>
                          <m:sSupPr>
                            <m:ctrlPr>
                              <a:rPr lang="en-IN"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𝑊</m:t>
                            </m:r>
                          </m:e>
                          <m:sup>
                            <m:r>
                              <a:rPr lang="en-IN" b="0" i="1" smtClean="0">
                                <a:latin typeface="Cambria Math" panose="02040503050406030204" pitchFamily="18" charset="0"/>
                                <a:ea typeface="Cambria Math" panose="02040503050406030204" pitchFamily="18" charset="0"/>
                                <a:cs typeface="Times New Roman" panose="02020603050405020304" pitchFamily="18" charset="0"/>
                              </a:rPr>
                              <m:t>𝑚</m:t>
                            </m:r>
                          </m:sup>
                        </m:sSup>
                        <m:sSub>
                          <m:sSubPr>
                            <m:ctrlPr>
                              <a:rPr lang="en-IN"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h</m:t>
                            </m:r>
                          </m:e>
                          <m:sub>
                            <m:r>
                              <a:rPr lang="en-IN" b="0" i="1" smtClean="0">
                                <a:latin typeface="Cambria Math" panose="02040503050406030204" pitchFamily="18" charset="0"/>
                                <a:ea typeface="Cambria Math" panose="02040503050406030204" pitchFamily="18" charset="0"/>
                                <a:cs typeface="Times New Roman" panose="02020603050405020304" pitchFamily="18" charset="0"/>
                              </a:rPr>
                              <m:t>𝑢</m:t>
                            </m:r>
                          </m:sub>
                        </m:sSub>
                        <m:r>
                          <a:rPr lang="en-IN" b="0" i="1" smtClean="0">
                            <a:latin typeface="Cambria Math" panose="02040503050406030204" pitchFamily="18" charset="0"/>
                            <a:ea typeface="Cambria Math" panose="02040503050406030204" pitchFamily="18" charset="0"/>
                            <a:cs typeface="Times New Roman" panose="02020603050405020304" pitchFamily="18" charset="0"/>
                          </a:rPr>
                          <m:t>)</m:t>
                        </m:r>
                      </m:e>
                    </m:nary>
                  </m:oMath>
                </a14:m>
                <a:endParaRPr lang="en-IN" dirty="0">
                  <a:latin typeface="Times New Roman" panose="02020603050405020304" pitchFamily="18" charset="0"/>
                  <a:ea typeface="Cambria Math" panose="020405030504060302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Multi-head attention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Graph readout + classification:</a:t>
                </a:r>
              </a:p>
              <a:p>
                <a:r>
                  <a:rPr lang="en-IN" dirty="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i="1">
                            <a:latin typeface="Cambria Math" panose="02040503050406030204" pitchFamily="18" charset="0"/>
                          </a:rPr>
                        </m:ctrlPr>
                      </m:accPr>
                      <m:e>
                        <m:r>
                          <a:rPr lang="en-IN" i="1">
                            <a:latin typeface="Cambria Math" panose="02040503050406030204" pitchFamily="18" charset="0"/>
                          </a:rPr>
                          <m:t>𝑦</m:t>
                        </m:r>
                      </m:e>
                    </m:acc>
                    <m:r>
                      <a:rPr lang="en-IN" i="1">
                        <a:latin typeface="Cambria Math" panose="02040503050406030204" pitchFamily="18" charset="0"/>
                      </a:rPr>
                      <m:t>=</m:t>
                    </m:r>
                    <m:r>
                      <a:rPr lang="en-IN" i="1">
                        <a:latin typeface="Cambria Math" panose="02040503050406030204" pitchFamily="18" charset="0"/>
                      </a:rPr>
                      <m:t>𝑠𝑜𝑓𝑡𝑚𝑎𝑥</m:t>
                    </m:r>
                    <m:r>
                      <a:rPr lang="en-IN" i="1">
                        <a:latin typeface="Cambria Math" panose="02040503050406030204" pitchFamily="18" charset="0"/>
                      </a:rPr>
                      <m:t>(</m:t>
                    </m:r>
                    <m:r>
                      <a:rPr lang="en-IN" i="1">
                        <a:latin typeface="Cambria Math" panose="02040503050406030204" pitchFamily="18" charset="0"/>
                      </a:rPr>
                      <m:t>𝑊</m:t>
                    </m:r>
                    <m:sSub>
                      <m:sSubPr>
                        <m:ctrlPr>
                          <a:rPr lang="en-IN" i="1">
                            <a:latin typeface="Cambria Math" panose="02040503050406030204" pitchFamily="18" charset="0"/>
                          </a:rPr>
                        </m:ctrlPr>
                      </m:sSubPr>
                      <m:e>
                        <m:r>
                          <a:rPr lang="en-IN" i="1">
                            <a:latin typeface="Cambria Math" panose="02040503050406030204" pitchFamily="18" charset="0"/>
                          </a:rPr>
                          <m:t>h</m:t>
                        </m:r>
                      </m:e>
                      <m:sub>
                        <m:r>
                          <a:rPr lang="en-IN" i="1">
                            <a:latin typeface="Cambria Math" panose="02040503050406030204" pitchFamily="18" charset="0"/>
                          </a:rPr>
                          <m:t>𝐺</m:t>
                        </m:r>
                      </m:sub>
                    </m:sSub>
                    <m:r>
                      <a:rPr lang="en-IN" i="1">
                        <a:latin typeface="Cambria Math" panose="02040503050406030204" pitchFamily="18" charset="0"/>
                      </a:rPr>
                      <m:t>+</m:t>
                    </m:r>
                    <m:r>
                      <a:rPr lang="en-IN" i="1">
                        <a:latin typeface="Cambria Math" panose="02040503050406030204" pitchFamily="18" charset="0"/>
                      </a:rPr>
                      <m:t>𝑏</m:t>
                    </m:r>
                    <m:r>
                      <a:rPr lang="en-IN" i="1">
                        <a:latin typeface="Cambria Math" panose="02040503050406030204" pitchFamily="18" charset="0"/>
                      </a:rPr>
                      <m:t>)</m:t>
                    </m:r>
                  </m:oMath>
                </a14:m>
                <a:endParaRPr lang="en-US" dirty="0">
                  <a:latin typeface="Times New Roman" panose="02020603050405020304" pitchFamily="18" charset="0"/>
                  <a:ea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Training loop:</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For each epoch: compute predictions, loss, backprop, update </a:t>
                </a:r>
                <a14:m>
                  <m:oMath xmlns:m="http://schemas.openxmlformats.org/officeDocument/2006/math">
                    <m:r>
                      <m:rPr>
                        <m:sty m:val="p"/>
                      </m:rPr>
                      <a:rPr lang="el-GR" i="1">
                        <a:latin typeface="Cambria Math" panose="02040503050406030204" pitchFamily="18" charset="0"/>
                      </a:rPr>
                      <m:t>Θ</m:t>
                    </m:r>
                  </m:oMath>
                </a14:m>
                <a:r>
                  <a:rPr lang="en-US" altLang="en-US" dirty="0">
                    <a:latin typeface="Times New Roman" panose="02020603050405020304" pitchFamily="18" charset="0"/>
                    <a:cs typeface="Times New Roman" panose="02020603050405020304" pitchFamily="18" charset="0"/>
                  </a:rPr>
                  <a:t>.</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Return trained model M.</a:t>
                </a:r>
              </a:p>
            </p:txBody>
          </p:sp>
        </mc:Choice>
        <mc:Fallback>
          <p:sp>
            <p:nvSpPr>
              <p:cNvPr id="12" name="Rectangle 11">
                <a:extLst>
                  <a:ext uri="{FF2B5EF4-FFF2-40B4-BE49-F238E27FC236}">
                    <a16:creationId xmlns:a16="http://schemas.microsoft.com/office/drawing/2014/main" id="{AC84B9FE-A959-4D50-95EF-26B56CB68927}"/>
                  </a:ext>
                </a:extLst>
              </p:cNvPr>
              <p:cNvSpPr>
                <a:spLocks noRot="1" noChangeAspect="1" noMove="1" noResize="1" noEditPoints="1" noAdjustHandles="1" noChangeArrowheads="1" noChangeShapeType="1" noTextEdit="1"/>
              </p:cNvSpPr>
              <p:nvPr/>
            </p:nvSpPr>
            <p:spPr>
              <a:xfrm>
                <a:off x="6188364" y="764309"/>
                <a:ext cx="5834122" cy="5788188"/>
              </a:xfrm>
              <a:prstGeom prst="rect">
                <a:avLst/>
              </a:prstGeom>
              <a:blipFill>
                <a:blip r:embed="rId2"/>
                <a:stretch>
                  <a:fillRect l="-836" t="-526" r="-1254" b="-73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Rectangle 12">
                <a:extLst>
                  <a:ext uri="{FF2B5EF4-FFF2-40B4-BE49-F238E27FC236}">
                    <a16:creationId xmlns:a16="http://schemas.microsoft.com/office/drawing/2014/main" id="{6A7A8BC3-6F34-45B5-8BCF-A954B92A95B2}"/>
                  </a:ext>
                </a:extLst>
              </p:cNvPr>
              <p:cNvSpPr/>
              <p:nvPr/>
            </p:nvSpPr>
            <p:spPr>
              <a:xfrm>
                <a:off x="261877" y="764309"/>
                <a:ext cx="5834122" cy="5580759"/>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Algorithm:</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GIN (Graph Isomorphic Network)</a:t>
                </a:r>
              </a:p>
              <a:p>
                <a:r>
                  <a:rPr lang="en-US" b="1" dirty="0">
                    <a:latin typeface="Times New Roman" panose="02020603050405020304" pitchFamily="18" charset="0"/>
                    <a:cs typeface="Times New Roman" panose="02020603050405020304" pitchFamily="18" charset="0"/>
                  </a:rPr>
                  <a:t>Input: </a:t>
                </a:r>
                <a:r>
                  <a:rPr lang="en-US" dirty="0">
                    <a:latin typeface="Times New Roman" panose="02020603050405020304" pitchFamily="18" charset="0"/>
                    <a:cs typeface="Times New Roman" panose="02020603050405020304" pitchFamily="18" charset="0"/>
                  </a:rPr>
                  <a:t>Graph dataset 𝐷={(𝐺𝑖,𝑦𝑖)}, validation dataset 𝐷𝑣𝑎𝑙, learning rate 𝜂</a:t>
                </a:r>
                <a:r>
                  <a:rPr lang="el-G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batch size 𝑏, epochs 𝑁, number of layers 𝐿.</a:t>
                </a:r>
              </a:p>
              <a:p>
                <a:r>
                  <a:rPr lang="en-US" b="1" dirty="0">
                    <a:latin typeface="Times New Roman" panose="02020603050405020304" pitchFamily="18" charset="0"/>
                    <a:cs typeface="Times New Roman" panose="02020603050405020304" pitchFamily="18" charset="0"/>
                  </a:rPr>
                  <a:t>Output: </a:t>
                </a:r>
                <a:r>
                  <a:rPr lang="en-US" dirty="0">
                    <a:latin typeface="Times New Roman" panose="02020603050405020304" pitchFamily="18" charset="0"/>
                    <a:cs typeface="Times New Roman" panose="02020603050405020304" pitchFamily="18" charset="0"/>
                  </a:rPr>
                  <a:t>Trained GIN model 𝑀.</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Method: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Construct graphs G=(V,E) from ECG signals with node features </a:t>
                </a:r>
                <a14:m>
                  <m:oMath xmlns:m="http://schemas.openxmlformats.org/officeDocument/2006/math">
                    <m:sSub>
                      <m:sSubPr>
                        <m:ctrlPr>
                          <a:rPr lang="en-US"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𝑣</m:t>
                        </m:r>
                      </m:sub>
                    </m:sSub>
                  </m:oMath>
                </a14:m>
                <a:r>
                  <a:rPr lang="en-US"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Initialize GIN with parameters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cs typeface="Times New Roman" panose="02020603050405020304" pitchFamily="18" charset="0"/>
                      </a:rPr>
                      <m:t>Θ</m:t>
                    </m:r>
                    <m:r>
                      <a:rPr lang="en-IN"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Node update rule:</a:t>
                </a:r>
              </a:p>
              <a:p>
                <a:pPr lvl="2"/>
                <a14:m>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ea typeface="Times New Roman" panose="02020603050405020304" pitchFamily="18" charset="0"/>
                            <a:cs typeface="Times New Roman" panose="02020603050405020304" pitchFamily="18" charset="0"/>
                          </a:rPr>
                          <m:t>h</m:t>
                        </m:r>
                      </m:e>
                      <m:sub>
                        <m:r>
                          <a:rPr lang="en-US" i="1">
                            <a:latin typeface="Cambria Math" panose="02040503050406030204" pitchFamily="18" charset="0"/>
                            <a:ea typeface="Times New Roman" panose="02020603050405020304" pitchFamily="18" charset="0"/>
                            <a:cs typeface="Times New Roman" panose="02020603050405020304" pitchFamily="18" charset="0"/>
                          </a:rPr>
                          <m:t>𝑣</m:t>
                        </m:r>
                      </m:sub>
                      <m:sup>
                        <m:d>
                          <m:dPr>
                            <m:ctrlPr>
                              <a:rPr lang="en-US" i="1">
                                <a:latin typeface="Cambria Math" panose="02040503050406030204" pitchFamily="18" charset="0"/>
                              </a:rPr>
                            </m:ctrlPr>
                          </m:dPr>
                          <m:e>
                            <m:r>
                              <a:rPr lang="en-US" i="1">
                                <a:latin typeface="Cambria Math" panose="02040503050406030204" pitchFamily="18" charset="0"/>
                                <a:ea typeface="Times New Roman" panose="02020603050405020304" pitchFamily="18" charset="0"/>
                                <a:cs typeface="Times New Roman" panose="02020603050405020304" pitchFamily="18" charset="0"/>
                              </a:rPr>
                              <m:t>𝑙</m:t>
                            </m:r>
                          </m:e>
                        </m:d>
                      </m:sup>
                    </m:sSubSup>
                    <m:r>
                      <a:rPr lang="en-US">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Times New Roman" panose="02020603050405020304" pitchFamily="18" charset="0"/>
                            <a:cs typeface="Times New Roman" panose="02020603050405020304" pitchFamily="18" charset="0"/>
                          </a:rPr>
                          <m:t>𝑀𝐿𝑃</m:t>
                        </m:r>
                      </m:e>
                      <m:sup>
                        <m:d>
                          <m:dPr>
                            <m:ctrlPr>
                              <a:rPr lang="en-US" i="1">
                                <a:latin typeface="Cambria Math" panose="02040503050406030204" pitchFamily="18" charset="0"/>
                              </a:rPr>
                            </m:ctrlPr>
                          </m:dPr>
                          <m:e>
                            <m:r>
                              <a:rPr lang="en-US" i="1">
                                <a:latin typeface="Cambria Math" panose="02040503050406030204" pitchFamily="18" charset="0"/>
                                <a:ea typeface="Times New Roman" panose="02020603050405020304" pitchFamily="18" charset="0"/>
                                <a:cs typeface="Times New Roman" panose="02020603050405020304" pitchFamily="18" charset="0"/>
                              </a:rPr>
                              <m:t>𝑙</m:t>
                            </m:r>
                          </m:e>
                        </m:d>
                      </m:sup>
                    </m:sSup>
                    <m:r>
                      <a:rPr lang="en-US">
                        <a:latin typeface="Cambria Math" panose="02040503050406030204" pitchFamily="18" charset="0"/>
                        <a:ea typeface="Times New Roman" panose="02020603050405020304" pitchFamily="18" charset="0"/>
                        <a:cs typeface="Times New Roman" panose="020206030504050203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ea typeface="Times New Roman" panose="02020603050405020304" pitchFamily="18" charset="0"/>
                            <a:cs typeface="Times New Roman" panose="02020603050405020304" pitchFamily="18" charset="0"/>
                          </a:rPr>
                          <m:t>𝜖</m:t>
                        </m:r>
                      </m:e>
                      <m:sup>
                        <m:d>
                          <m:dPr>
                            <m:ctrlPr>
                              <a:rPr lang="en-US" i="1">
                                <a:latin typeface="Cambria Math" panose="02040503050406030204" pitchFamily="18" charset="0"/>
                              </a:rPr>
                            </m:ctrlPr>
                          </m:dPr>
                          <m:e>
                            <m:r>
                              <a:rPr lang="en-US" i="1">
                                <a:latin typeface="Cambria Math" panose="02040503050406030204" pitchFamily="18" charset="0"/>
                                <a:ea typeface="Times New Roman" panose="02020603050405020304" pitchFamily="18" charset="0"/>
                                <a:cs typeface="Times New Roman" panose="02020603050405020304" pitchFamily="18" charset="0"/>
                              </a:rPr>
                              <m:t>𝑙</m:t>
                            </m:r>
                          </m:e>
                        </m:d>
                      </m:sup>
                    </m:sSup>
                    <m:r>
                      <a:rPr lang="en-US">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ea typeface="Times New Roman" panose="02020603050405020304" pitchFamily="18" charset="0"/>
                            <a:cs typeface="Times New Roman" panose="02020603050405020304" pitchFamily="18" charset="0"/>
                          </a:rPr>
                          <m:t>h</m:t>
                        </m:r>
                      </m:e>
                      <m:sub>
                        <m:r>
                          <a:rPr lang="en-US" i="1">
                            <a:latin typeface="Cambria Math" panose="02040503050406030204" pitchFamily="18" charset="0"/>
                            <a:ea typeface="Times New Roman" panose="02020603050405020304" pitchFamily="18" charset="0"/>
                            <a:cs typeface="Times New Roman" panose="02020603050405020304" pitchFamily="18" charset="0"/>
                          </a:rPr>
                          <m:t>𝑣</m:t>
                        </m:r>
                      </m:sub>
                      <m:sup>
                        <m:d>
                          <m:dPr>
                            <m:ctrlPr>
                              <a:rPr lang="en-US" i="1">
                                <a:latin typeface="Cambria Math" panose="02040503050406030204" pitchFamily="18" charset="0"/>
                              </a:rPr>
                            </m:ctrlPr>
                          </m:dPr>
                          <m:e>
                            <m:r>
                              <a:rPr lang="en-US" i="1">
                                <a:latin typeface="Cambria Math" panose="02040503050406030204" pitchFamily="18" charset="0"/>
                                <a:ea typeface="Times New Roman" panose="02020603050405020304" pitchFamily="18" charset="0"/>
                                <a:cs typeface="Times New Roman" panose="02020603050405020304" pitchFamily="18" charset="0"/>
                              </a:rPr>
                              <m:t>𝑙</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a:latin typeface="Cambria Math" panose="02040503050406030204" pitchFamily="18" charset="0"/>
                                <a:ea typeface="Times New Roman" panose="02020603050405020304" pitchFamily="18" charset="0"/>
                                <a:cs typeface="Times New Roman" panose="02020603050405020304" pitchFamily="18" charset="0"/>
                              </a:rPr>
                              <m:t>1</m:t>
                            </m:r>
                          </m:e>
                        </m:d>
                      </m:sup>
                    </m:sSubSup>
                    <m:r>
                      <a:rPr lang="en-US">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ea typeface="Times New Roman" panose="02020603050405020304" pitchFamily="18" charset="0"/>
                            <a:cs typeface="Times New Roman" panose="02020603050405020304" pitchFamily="18" charset="0"/>
                          </a:rPr>
                          <m:t>𝑢</m:t>
                        </m:r>
                        <m:r>
                          <a:rPr lang="en-US">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𝒩</m:t>
                        </m:r>
                        <m:d>
                          <m:dPr>
                            <m:ctrlPr>
                              <a:rPr lang="en-US" i="1">
                                <a:latin typeface="Cambria Math" panose="02040503050406030204" pitchFamily="18" charset="0"/>
                              </a:rPr>
                            </m:ctrlPr>
                          </m:dPr>
                          <m:e>
                            <m:r>
                              <a:rPr lang="en-US" i="1">
                                <a:latin typeface="Cambria Math" panose="02040503050406030204" pitchFamily="18" charset="0"/>
                                <a:ea typeface="Times New Roman" panose="02020603050405020304" pitchFamily="18" charset="0"/>
                                <a:cs typeface="Times New Roman" panose="02020603050405020304" pitchFamily="18" charset="0"/>
                              </a:rPr>
                              <m:t>𝑣</m:t>
                            </m:r>
                          </m:e>
                        </m:d>
                      </m:sub>
                      <m:sup/>
                      <m:e>
                        <m:sSubSup>
                          <m:sSubSupPr>
                            <m:ctrlPr>
                              <a:rPr lang="en-US" i="1">
                                <a:latin typeface="Cambria Math" panose="02040503050406030204" pitchFamily="18" charset="0"/>
                              </a:rPr>
                            </m:ctrlPr>
                          </m:sSubSupPr>
                          <m:e>
                            <m:r>
                              <a:rPr lang="en-US" i="1">
                                <a:latin typeface="Cambria Math" panose="02040503050406030204" pitchFamily="18" charset="0"/>
                                <a:ea typeface="Times New Roman" panose="02020603050405020304" pitchFamily="18" charset="0"/>
                                <a:cs typeface="Times New Roman" panose="02020603050405020304" pitchFamily="18" charset="0"/>
                              </a:rPr>
                              <m:t>h</m:t>
                            </m:r>
                          </m:e>
                          <m:sub>
                            <m:r>
                              <a:rPr lang="en-US" i="1">
                                <a:latin typeface="Cambria Math" panose="02040503050406030204" pitchFamily="18" charset="0"/>
                                <a:ea typeface="Times New Roman" panose="02020603050405020304" pitchFamily="18" charset="0"/>
                                <a:cs typeface="Times New Roman" panose="02020603050405020304" pitchFamily="18" charset="0"/>
                              </a:rPr>
                              <m:t>𝑢</m:t>
                            </m:r>
                          </m:sub>
                          <m:sup>
                            <m:d>
                              <m:dPr>
                                <m:ctrlPr>
                                  <a:rPr lang="en-US" i="1">
                                    <a:latin typeface="Cambria Math" panose="02040503050406030204" pitchFamily="18" charset="0"/>
                                  </a:rPr>
                                </m:ctrlPr>
                              </m:dPr>
                              <m:e>
                                <m:r>
                                  <a:rPr lang="en-US" i="1">
                                    <a:latin typeface="Cambria Math" panose="02040503050406030204" pitchFamily="18" charset="0"/>
                                    <a:ea typeface="Times New Roman" panose="02020603050405020304" pitchFamily="18" charset="0"/>
                                    <a:cs typeface="Times New Roman" panose="02020603050405020304" pitchFamily="18" charset="0"/>
                                  </a:rPr>
                                  <m:t>𝑙</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a:latin typeface="Cambria Math" panose="02040503050406030204" pitchFamily="18" charset="0"/>
                                    <a:ea typeface="Times New Roman" panose="02020603050405020304" pitchFamily="18" charset="0"/>
                                    <a:cs typeface="Times New Roman" panose="02020603050405020304" pitchFamily="18" charset="0"/>
                                  </a:rPr>
                                  <m:t>1</m:t>
                                </m:r>
                              </m:e>
                            </m:d>
                          </m:sup>
                        </m:sSubSup>
                        <m:r>
                          <a:rPr lang="en-US" i="1">
                            <a:latin typeface="Cambria Math" panose="02040503050406030204" pitchFamily="18" charset="0"/>
                            <a:ea typeface="Times New Roman" panose="02020603050405020304" pitchFamily="18" charset="0"/>
                            <a:cs typeface="Times New Roman" panose="02020603050405020304" pitchFamily="18" charset="0"/>
                          </a:rPr>
                          <m:t>)</m:t>
                        </m:r>
                      </m:e>
                    </m:nary>
                  </m:oMath>
                </a14:m>
                <a:r>
                  <a:rPr lang="en-US" dirty="0">
                    <a:latin typeface="Times New Roman" panose="02020603050405020304" pitchFamily="18" charset="0"/>
                    <a:ea typeface="Times New Roman" panose="02020603050405020304" pitchFamily="18" charset="0"/>
                  </a:rPr>
                  <a:t> </a:t>
                </a:r>
              </a:p>
              <a:p>
                <a:pPr marL="285750" indent="-285750">
                  <a:buFont typeface="Arial" panose="020B0604020202020204" pitchFamily="34" charset="0"/>
                  <a:buChar char="•"/>
                </a:pPr>
                <a:r>
                  <a:rPr lang="en-IN" dirty="0">
                    <a:latin typeface="Times New Roman" panose="02020603050405020304" pitchFamily="18" charset="0"/>
                    <a:ea typeface="Times New Roman" panose="02020603050405020304" pitchFamily="18" charset="0"/>
                    <a:cs typeface="Times New Roman" panose="02020603050405020304" pitchFamily="18" charset="0"/>
                  </a:rPr>
                  <a:t>G</a:t>
                </a:r>
                <a:r>
                  <a:rPr lang="en-US" dirty="0">
                    <a:latin typeface="Times New Roman" panose="02020603050405020304" pitchFamily="18" charset="0"/>
                    <a:ea typeface="Times New Roman" panose="02020603050405020304" pitchFamily="18" charset="0"/>
                    <a:cs typeface="Times New Roman" panose="02020603050405020304" pitchFamily="18" charset="0"/>
                  </a:rPr>
                  <a:t>raph readout:</a:t>
                </a:r>
              </a:p>
              <a:p>
                <a:pPr lvl="1"/>
                <a:r>
                  <a:rPr lang="en-IN" dirty="0">
                    <a:latin typeface="Times New Roman" panose="02020603050405020304" pitchFamily="18" charset="0"/>
                    <a:ea typeface="Times New Roman" panose="02020603050405020304" pitchFamily="18" charset="0"/>
                  </a:rPr>
                  <a:t>	</a:t>
                </a:r>
                <a14:m>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𝐺</m:t>
                        </m:r>
                      </m:sub>
                    </m:sSub>
                    <m:r>
                      <a:rPr lang="en-IN" b="0" i="1" smtClean="0">
                        <a:latin typeface="Cambria Math" panose="02040503050406030204" pitchFamily="18" charset="0"/>
                      </a:rPr>
                      <m:t>=</m:t>
                    </m:r>
                    <m:r>
                      <a:rPr lang="en-IN" b="0" i="1" smtClean="0">
                        <a:latin typeface="Cambria Math" panose="02040503050406030204" pitchFamily="18" charset="0"/>
                      </a:rPr>
                      <m:t>𝑅𝐸𝐴𝐷𝑂𝑈𝑇</m:t>
                    </m:r>
                    <m:r>
                      <a:rPr lang="en-IN" b="0" i="1" smtClean="0">
                        <a:latin typeface="Cambria Math" panose="02040503050406030204" pitchFamily="18" charset="0"/>
                      </a:rPr>
                      <m:t>(</m:t>
                    </m:r>
                    <m:d>
                      <m:dPr>
                        <m:begChr m:val="{"/>
                        <m:endChr m:val="}"/>
                        <m:ctrlPr>
                          <a:rPr lang="en-IN" b="0" i="1" smtClean="0">
                            <a:latin typeface="Cambria Math" panose="02040503050406030204" pitchFamily="18" charset="0"/>
                          </a:rPr>
                        </m:ctrlPr>
                      </m:dPr>
                      <m:e>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h</m:t>
                            </m:r>
                          </m:e>
                          <m:sub>
                            <m:r>
                              <a:rPr lang="en-IN" b="0" i="1" smtClean="0">
                                <a:latin typeface="Cambria Math" panose="02040503050406030204" pitchFamily="18" charset="0"/>
                              </a:rPr>
                              <m:t>𝑣</m:t>
                            </m:r>
                          </m:sub>
                          <m:sup>
                            <m:d>
                              <m:dPr>
                                <m:ctrlPr>
                                  <a:rPr lang="en-IN" b="0" i="1" smtClean="0">
                                    <a:latin typeface="Cambria Math" panose="02040503050406030204" pitchFamily="18" charset="0"/>
                                  </a:rPr>
                                </m:ctrlPr>
                              </m:dPr>
                              <m:e>
                                <m:r>
                                  <a:rPr lang="en-IN" b="0" i="1" smtClean="0">
                                    <a:latin typeface="Cambria Math" panose="02040503050406030204" pitchFamily="18" charset="0"/>
                                  </a:rPr>
                                  <m:t>𝐿</m:t>
                                </m:r>
                              </m:e>
                            </m:d>
                          </m:sup>
                        </m:sSubSup>
                      </m:e>
                    </m:d>
                    <m:r>
                      <a:rPr lang="en-IN" b="0" i="1" smtClean="0">
                        <a:latin typeface="Cambria Math" panose="02040503050406030204" pitchFamily="18" charset="0"/>
                      </a:rPr>
                      <m:t>)</m:t>
                    </m:r>
                  </m:oMath>
                </a14:m>
                <a:endParaRPr lang="en-US" dirty="0">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ea typeface="Times New Roman" panose="02020603050405020304" pitchFamily="18" charset="0"/>
                  </a:rPr>
                  <a:t>C</a:t>
                </a:r>
                <a:r>
                  <a:rPr lang="en-US" dirty="0" err="1">
                    <a:latin typeface="Times New Roman" panose="02020603050405020304" pitchFamily="18" charset="0"/>
                    <a:ea typeface="Times New Roman" panose="02020603050405020304" pitchFamily="18" charset="0"/>
                  </a:rPr>
                  <a:t>lassification</a:t>
                </a:r>
                <a:r>
                  <a:rPr lang="en-US" dirty="0">
                    <a:latin typeface="Times New Roman" panose="02020603050405020304" pitchFamily="18" charset="0"/>
                    <a:ea typeface="Times New Roman" panose="02020603050405020304" pitchFamily="18" charset="0"/>
                  </a:rPr>
                  <a:t>:</a:t>
                </a:r>
              </a:p>
              <a:p>
                <a:r>
                  <a:rPr lang="en-US" dirty="0">
                    <a:latin typeface="Times New Roman" panose="02020603050405020304" pitchFamily="18" charset="0"/>
                  </a:rPr>
                  <a:t>  	</a:t>
                </a:r>
                <a14:m>
                  <m:oMath xmlns:m="http://schemas.openxmlformats.org/officeDocument/2006/math">
                    <m:acc>
                      <m:accPr>
                        <m:chr m:val="̂"/>
                        <m:ctrlPr>
                          <a:rPr lang="en-US" i="1" smtClean="0">
                            <a:latin typeface="Cambria Math" panose="02040503050406030204" pitchFamily="18" charset="0"/>
                          </a:rPr>
                        </m:ctrlPr>
                      </m:accPr>
                      <m:e>
                        <m:r>
                          <a:rPr lang="en-IN" b="0" i="1" smtClean="0">
                            <a:latin typeface="Cambria Math" panose="02040503050406030204" pitchFamily="18" charset="0"/>
                          </a:rPr>
                          <m:t>𝑦</m:t>
                        </m:r>
                      </m:e>
                    </m:acc>
                    <m:r>
                      <a:rPr lang="en-IN" b="0" i="1" smtClean="0">
                        <a:latin typeface="Cambria Math" panose="02040503050406030204" pitchFamily="18" charset="0"/>
                      </a:rPr>
                      <m:t>=</m:t>
                    </m:r>
                    <m:r>
                      <a:rPr lang="en-IN" b="0" i="1" smtClean="0">
                        <a:latin typeface="Cambria Math" panose="02040503050406030204" pitchFamily="18" charset="0"/>
                      </a:rPr>
                      <m:t>𝑠𝑜𝑓𝑡𝑚𝑎𝑥</m:t>
                    </m:r>
                    <m:r>
                      <a:rPr lang="en-IN" b="0" i="1" smtClean="0">
                        <a:latin typeface="Cambria Math" panose="02040503050406030204" pitchFamily="18" charset="0"/>
                      </a:rPr>
                      <m:t>(</m:t>
                    </m:r>
                    <m:r>
                      <a:rPr lang="en-IN" b="0" i="1" smtClean="0">
                        <a:latin typeface="Cambria Math" panose="02040503050406030204" pitchFamily="18" charset="0"/>
                      </a:rPr>
                      <m:t>𝑊</m:t>
                    </m:r>
                    <m:sSub>
                      <m:sSubPr>
                        <m:ctrlPr>
                          <a:rPr lang="en-IN" b="0" i="1" smtClean="0">
                            <a:latin typeface="Cambria Math" panose="02040503050406030204" pitchFamily="18" charset="0"/>
                          </a:rPr>
                        </m:ctrlPr>
                      </m:sSubPr>
                      <m:e>
                        <m:r>
                          <a:rPr lang="en-IN" b="0" i="1" smtClean="0">
                            <a:latin typeface="Cambria Math" panose="02040503050406030204" pitchFamily="18" charset="0"/>
                          </a:rPr>
                          <m:t>h</m:t>
                        </m:r>
                      </m:e>
                      <m:sub>
                        <m:r>
                          <a:rPr lang="en-IN" b="0" i="1" smtClean="0">
                            <a:latin typeface="Cambria Math" panose="02040503050406030204" pitchFamily="18" charset="0"/>
                          </a:rPr>
                          <m:t>𝐺</m:t>
                        </m:r>
                      </m:sub>
                    </m:sSub>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m:t>
                    </m:r>
                  </m:oMath>
                </a14:m>
                <a:endParaRPr lang="en-US" dirty="0">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Training loop:</a:t>
                </a:r>
              </a:p>
              <a:p>
                <a:pPr marL="800100" lvl="1"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each epoch: </a:t>
                </a:r>
                <a:r>
                  <a:rPr lang="en-US" altLang="en-US" dirty="0">
                    <a:latin typeface="Times New Roman" panose="02020603050405020304" pitchFamily="18" charset="0"/>
                    <a:cs typeface="Times New Roman" panose="02020603050405020304" pitchFamily="18" charset="0"/>
                  </a:rPr>
                  <a:t>: compute predictions, loss, backprop, update </a:t>
                </a:r>
                <a14:m>
                  <m:oMath xmlns:m="http://schemas.openxmlformats.org/officeDocument/2006/math">
                    <m:r>
                      <m:rPr>
                        <m:sty m:val="p"/>
                      </m:rPr>
                      <a:rPr lang="el-GR" i="1">
                        <a:latin typeface="Cambria Math" panose="02040503050406030204" pitchFamily="18" charset="0"/>
                      </a:rPr>
                      <m:t>Θ</m:t>
                    </m:r>
                  </m:oMath>
                </a14:m>
                <a:r>
                  <a:rPr lang="en-US" alt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Return trained model M</a:t>
                </a:r>
                <a:r>
                  <a:rPr lang="en-US" dirty="0"/>
                  <a:t>.</a:t>
                </a:r>
              </a:p>
            </p:txBody>
          </p:sp>
        </mc:Choice>
        <mc:Fallback>
          <p:sp>
            <p:nvSpPr>
              <p:cNvPr id="13" name="Rectangle 12">
                <a:extLst>
                  <a:ext uri="{FF2B5EF4-FFF2-40B4-BE49-F238E27FC236}">
                    <a16:creationId xmlns:a16="http://schemas.microsoft.com/office/drawing/2014/main" id="{6A7A8BC3-6F34-45B5-8BCF-A954B92A95B2}"/>
                  </a:ext>
                </a:extLst>
              </p:cNvPr>
              <p:cNvSpPr>
                <a:spLocks noRot="1" noChangeAspect="1" noMove="1" noResize="1" noEditPoints="1" noAdjustHandles="1" noChangeArrowheads="1" noChangeShapeType="1" noTextEdit="1"/>
              </p:cNvSpPr>
              <p:nvPr/>
            </p:nvSpPr>
            <p:spPr>
              <a:xfrm>
                <a:off x="261877" y="764309"/>
                <a:ext cx="5834122" cy="5580759"/>
              </a:xfrm>
              <a:prstGeom prst="rect">
                <a:avLst/>
              </a:prstGeom>
              <a:blipFill>
                <a:blip r:embed="rId3"/>
                <a:stretch>
                  <a:fillRect l="-940" t="-546" b="-764"/>
                </a:stretch>
              </a:blipFill>
            </p:spPr>
            <p:txBody>
              <a:bodyPr/>
              <a:lstStyle/>
              <a:p>
                <a:r>
                  <a:rPr lang="en-US">
                    <a:noFill/>
                  </a:rPr>
                  <a:t> </a:t>
                </a:r>
              </a:p>
            </p:txBody>
          </p:sp>
        </mc:Fallback>
      </mc:AlternateContent>
    </p:spTree>
    <p:extLst>
      <p:ext uri="{BB962C8B-B14F-4D97-AF65-F5344CB8AC3E}">
        <p14:creationId xmlns:p14="http://schemas.microsoft.com/office/powerpoint/2010/main" val="2449789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058" y="275590"/>
            <a:ext cx="3818965"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Algorithms</a:t>
            </a:r>
            <a:r>
              <a:rPr lang="en-US" sz="3200" b="1" dirty="0"/>
              <a:t> </a:t>
            </a:r>
            <a:r>
              <a:rPr lang="en-US" sz="3200" b="1" dirty="0">
                <a:latin typeface="Times New Roman" panose="02020603050405020304" pitchFamily="18" charset="0"/>
                <a:cs typeface="Times New Roman" panose="02020603050405020304" pitchFamily="18" charset="0"/>
              </a:rPr>
              <a:t>Involved</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p:cNvSpPr txBox="1"/>
              <p:nvPr/>
            </p:nvSpPr>
            <p:spPr>
              <a:xfrm>
                <a:off x="493058" y="988187"/>
                <a:ext cx="10415270" cy="5594223"/>
              </a:xfrm>
              <a:prstGeom prst="rect">
                <a:avLst/>
              </a:prstGeom>
              <a:noFill/>
            </p:spPr>
            <p:txBody>
              <a:bodyPr wrap="square" rtlCol="0">
                <a:noAutofit/>
              </a:bodyPr>
              <a:lstStyle/>
              <a:p>
                <a:pPr marL="457200" lvl="0" indent="-457200" eaLnBrk="0" fontAlgn="base" hangingPunct="0">
                  <a:spcBef>
                    <a:spcPct val="0"/>
                  </a:spcBef>
                  <a:spcAft>
                    <a:spcPct val="0"/>
                  </a:spcAft>
                  <a:buAutoNum type="arabicPeriod"/>
                </a:pPr>
                <a:r>
                  <a:rPr lang="en-US" altLang="en-US" sz="2000" b="1" dirty="0">
                    <a:latin typeface="Times New Roman" panose="02020603050405020304" pitchFamily="18" charset="0"/>
                    <a:cs typeface="Times New Roman" panose="02020603050405020304" pitchFamily="18" charset="0"/>
                  </a:rPr>
                  <a:t>CNN Feature Extraction</a:t>
                </a:r>
              </a:p>
              <a:p>
                <a:pPr lvl="0" eaLnBrk="0" fontAlgn="base" hangingPunct="0">
                  <a:spcBef>
                    <a:spcPct val="0"/>
                  </a:spcBef>
                  <a:spcAft>
                    <a:spcPct val="0"/>
                  </a:spcAft>
                </a:pPr>
                <a:endParaRPr lang="en-US" altLang="en-US" b="1"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b="1" dirty="0">
                    <a:latin typeface="Times New Roman" panose="02020603050405020304" pitchFamily="18" charset="0"/>
                    <a:cs typeface="Times New Roman" panose="02020603050405020304" pitchFamily="18" charset="0"/>
                  </a:rPr>
                  <a:t>Input:</a:t>
                </a:r>
                <a:r>
                  <a:rPr lang="en-US" altLang="en-US" sz="2000" dirty="0">
                    <a:latin typeface="Times New Roman" panose="02020603050405020304" pitchFamily="18" charset="0"/>
                    <a:cs typeface="Times New Roman" panose="02020603050405020304" pitchFamily="18" charset="0"/>
                  </a:rPr>
                  <a:t> Preprocessed ECG beat</a:t>
                </a:r>
                <a:r>
                  <a:rPr lang="en-US" altLang="en-US" sz="2000" dirty="0">
                    <a:latin typeface="Times New Roman" panose="02020603050405020304" pitchFamily="18" charset="0"/>
                    <a:cs typeface="Times New Roman" panose="02020603050405020304" pitchFamily="18" charset="0"/>
                    <a:sym typeface="+mn-ea"/>
                  </a:rPr>
                  <a:t> </a:t>
                </a:r>
                <a14:m>
                  <m:oMath xmlns:m="http://schemas.openxmlformats.org/officeDocument/2006/math">
                    <m:r>
                      <a:rPr lang="en-US" altLang="en-US" sz="2000" i="1" dirty="0">
                        <a:latin typeface="Cambria Math" panose="02040503050406030204" charset="0"/>
                        <a:cs typeface="Cambria Math" panose="02040503050406030204" charset="0"/>
                        <a:sym typeface="+mn-ea"/>
                      </a:rPr>
                      <m:t>𝐵</m:t>
                    </m:r>
                    <m:r>
                      <a:rPr lang="en-US" altLang="en-US" sz="2000" i="1" dirty="0">
                        <a:latin typeface="Cambria Math" panose="02040503050406030204" charset="0"/>
                        <a:cs typeface="Cambria Math" panose="02040503050406030204" charset="0"/>
                        <a:sym typeface="+mn-ea"/>
                      </a:rPr>
                      <m:t>∈</m:t>
                    </m:r>
                    <m:sSup>
                      <m:sSupPr>
                        <m:ctrlPr>
                          <a:rPr lang="en-US" altLang="en-US" sz="2000" i="1" dirty="0" smtClean="0">
                            <a:latin typeface="Cambria Math" panose="02040503050406030204" pitchFamily="18" charset="0"/>
                            <a:sym typeface="+mn-ea"/>
                          </a:rPr>
                        </m:ctrlPr>
                      </m:sSupPr>
                      <m:e>
                        <m:r>
                          <a:rPr lang="en-IN" altLang="en-US" sz="2000" b="0" i="1" dirty="0" smtClean="0">
                            <a:latin typeface="Cambria Math" panose="02040503050406030204" pitchFamily="18" charset="0"/>
                            <a:sym typeface="+mn-ea"/>
                          </a:rPr>
                          <m:t>𝑅</m:t>
                        </m:r>
                      </m:e>
                      <m:sup>
                        <m:r>
                          <a:rPr lang="en-IN" altLang="en-US" sz="2000" b="0" i="1" dirty="0" smtClean="0">
                            <a:latin typeface="Cambria Math" panose="02040503050406030204" pitchFamily="18" charset="0"/>
                            <a:sym typeface="+mn-ea"/>
                          </a:rPr>
                          <m:t>12</m:t>
                        </m:r>
                        <m:r>
                          <a:rPr lang="en-IN" altLang="en-US" sz="2000" b="0" i="1" dirty="0" smtClean="0">
                            <a:latin typeface="Cambria Math" panose="02040503050406030204" pitchFamily="18" charset="0"/>
                            <a:ea typeface="Cambria Math" panose="02040503050406030204" pitchFamily="18" charset="0"/>
                            <a:sym typeface="+mn-ea"/>
                          </a:rPr>
                          <m:t>×70</m:t>
                        </m:r>
                      </m:sup>
                    </m:sSup>
                  </m:oMath>
                </a14:m>
                <a:endParaRPr lang="en-US" altLang="en-US" sz="2000" i="1" baseline="30000" dirty="0">
                  <a:latin typeface="Cambria Math" panose="02040503050406030204" charset="0"/>
                  <a:cs typeface="Cambria Math" panose="02040503050406030204" charset="0"/>
                  <a:sym typeface="+mn-ea"/>
                </a:endParaRPr>
              </a:p>
              <a:p>
                <a:pPr lvl="0" eaLnBrk="0" fontAlgn="base" hangingPunct="0">
                  <a:spcBef>
                    <a:spcPct val="0"/>
                  </a:spcBef>
                  <a:spcAft>
                    <a:spcPct val="0"/>
                  </a:spcAft>
                </a:pPr>
                <a:r>
                  <a:rPr lang="en-US" altLang="en-US" sz="2000" b="1" dirty="0">
                    <a:latin typeface="Times New Roman" panose="02020603050405020304" pitchFamily="18" charset="0"/>
                    <a:cs typeface="Times New Roman" panose="02020603050405020304" pitchFamily="18" charset="0"/>
                  </a:rPr>
                  <a:t>Output: </a:t>
                </a:r>
                <a:r>
                  <a:rPr lang="en-US" altLang="en-US" sz="2000" dirty="0">
                    <a:latin typeface="Times New Roman" panose="02020603050405020304" pitchFamily="18" charset="0"/>
                    <a:cs typeface="Times New Roman" panose="02020603050405020304" pitchFamily="18" charset="0"/>
                  </a:rPr>
                  <a:t>Feature map </a:t>
                </a:r>
                <a:r>
                  <a:rPr lang="zh-CN" altLang="en-US" sz="2000" dirty="0">
                    <a:latin typeface="Times New Roman" panose="02020603050405020304" pitchFamily="18" charset="0"/>
                    <a:cs typeface="Times New Roman" panose="02020603050405020304" pitchFamily="18" charset="0"/>
                  </a:rPr>
                  <a:t>𝐹</a:t>
                </a:r>
              </a:p>
              <a:p>
                <a:pPr lvl="0" eaLnBrk="0" fontAlgn="base" hangingPunct="0">
                  <a:spcBef>
                    <a:spcPct val="0"/>
                  </a:spcBef>
                  <a:spcAft>
                    <a:spcPct val="0"/>
                  </a:spcAft>
                </a:pPr>
                <a:r>
                  <a:rPr lang="en-US" altLang="zh-CN" sz="2000" b="1" dirty="0">
                    <a:latin typeface="Times New Roman" panose="02020603050405020304" pitchFamily="18" charset="0"/>
                    <a:cs typeface="Times New Roman" panose="02020603050405020304" pitchFamily="18" charset="0"/>
                  </a:rPr>
                  <a:t>Steps:</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1. Pass input beat </a:t>
                </a:r>
                <a:r>
                  <a:rPr lang="zh-CN" altLang="en-US" sz="2000" dirty="0">
                    <a:latin typeface="Times New Roman" panose="02020603050405020304" pitchFamily="18" charset="0"/>
                    <a:cs typeface="Times New Roman" panose="02020603050405020304" pitchFamily="18" charset="0"/>
                  </a:rPr>
                  <a:t>𝐵</a:t>
                </a:r>
                <a:r>
                  <a:rPr lang="en-US" altLang="en-US" sz="2000" dirty="0">
                    <a:latin typeface="Times New Roman" panose="02020603050405020304" pitchFamily="18" charset="0"/>
                    <a:cs typeface="Times New Roman" panose="02020603050405020304" pitchFamily="18" charset="0"/>
                  </a:rPr>
                  <a:t>through 1D convolutional layers.</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2. Apply convolution operation:</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en-US" sz="2000" i="1" dirty="0">
                        <a:latin typeface="Cambria Math" panose="02040503050406030204" charset="0"/>
                        <a:cs typeface="Cambria Math" panose="02040503050406030204" charset="0"/>
                      </a:rPr>
                      <m:t>𝐹</m:t>
                    </m:r>
                    <m:r>
                      <a:rPr lang="en-US" altLang="en-US" sz="2000" i="1" dirty="0">
                        <a:latin typeface="Cambria Math" panose="02040503050406030204" charset="0"/>
                        <a:cs typeface="Cambria Math" panose="02040503050406030204" charset="0"/>
                      </a:rPr>
                      <m:t>=</m:t>
                    </m:r>
                    <m:r>
                      <a:rPr lang="en-US" altLang="en-US" sz="2000" i="1" dirty="0">
                        <a:latin typeface="Cambria Math" panose="02040503050406030204" charset="0"/>
                        <a:cs typeface="Cambria Math" panose="02040503050406030204" charset="0"/>
                      </a:rPr>
                      <m:t>𝑊</m:t>
                    </m:r>
                    <m:r>
                      <a:rPr lang="en-US" altLang="en-US" sz="2000" i="1" dirty="0" smtClean="0">
                        <a:latin typeface="Cambria Math" panose="02040503050406030204" pitchFamily="18" charset="0"/>
                        <a:ea typeface="Cambria Math" panose="02040503050406030204" pitchFamily="18" charset="0"/>
                        <a:cs typeface="Cambria Math" panose="02040503050406030204" charset="0"/>
                      </a:rPr>
                      <m:t>∗</m:t>
                    </m:r>
                    <m:r>
                      <a:rPr lang="en-US" altLang="en-US" sz="2000" i="1" dirty="0">
                        <a:latin typeface="Cambria Math" panose="02040503050406030204" charset="0"/>
                        <a:cs typeface="Cambria Math" panose="02040503050406030204" charset="0"/>
                      </a:rPr>
                      <m:t>𝐵</m:t>
                    </m:r>
                    <m:r>
                      <a:rPr lang="en-US" altLang="en-US" sz="2000" i="1" dirty="0">
                        <a:latin typeface="Cambria Math" panose="02040503050406030204" charset="0"/>
                        <a:cs typeface="Cambria Math" panose="02040503050406030204" charset="0"/>
                      </a:rPr>
                      <m:t>+</m:t>
                    </m:r>
                    <m:r>
                      <a:rPr lang="en-US" altLang="en-US" sz="2000" i="1" dirty="0">
                        <a:latin typeface="Cambria Math" panose="02040503050406030204" charset="0"/>
                        <a:cs typeface="Cambria Math" panose="02040503050406030204" charset="0"/>
                      </a:rPr>
                      <m:t>𝑏</m:t>
                    </m:r>
                  </m:oMath>
                </a14:m>
                <a:endParaRPr lang="en-US" altLang="en-US" sz="2000" i="1" dirty="0">
                  <a:latin typeface="Cambria Math" panose="02040503050406030204" charset="0"/>
                  <a:cs typeface="Cambria Math" panose="02040503050406030204"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3. Apply Batch Normalization.</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4. Apply ReLU activation:</a:t>
                </a: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en-US" sz="2000" i="1" dirty="0">
                        <a:latin typeface="Cambria Math" panose="02040503050406030204" charset="0"/>
                        <a:cs typeface="Cambria Math" panose="02040503050406030204" charset="0"/>
                      </a:rPr>
                      <m:t>𝑅𝑒𝐿𝑈</m:t>
                    </m:r>
                    <m:d>
                      <m:dPr>
                        <m:ctrlPr>
                          <a:rPr lang="en-US" altLang="en-US" sz="2000" i="1" dirty="0">
                            <a:latin typeface="Cambria Math" panose="02040503050406030204" pitchFamily="18" charset="0"/>
                            <a:cs typeface="Cambria Math" panose="02040503050406030204" charset="0"/>
                          </a:rPr>
                        </m:ctrlPr>
                      </m:dPr>
                      <m:e>
                        <m:r>
                          <a:rPr lang="en-US" altLang="en-US" sz="2000" i="1" dirty="0">
                            <a:latin typeface="Cambria Math" panose="02040503050406030204" charset="0"/>
                            <a:cs typeface="Cambria Math" panose="02040503050406030204" charset="0"/>
                          </a:rPr>
                          <m:t>𝑥</m:t>
                        </m:r>
                      </m:e>
                    </m:d>
                    <m:r>
                      <a:rPr lang="en-US" altLang="en-US" sz="2000" i="1" dirty="0">
                        <a:latin typeface="Cambria Math" panose="02040503050406030204" charset="0"/>
                        <a:cs typeface="Cambria Math" panose="02040503050406030204" charset="0"/>
                      </a:rPr>
                      <m:t>=</m:t>
                    </m:r>
                    <m:r>
                      <a:rPr lang="en-US" altLang="en-US" sz="2000" i="1" dirty="0">
                        <a:latin typeface="Cambria Math" panose="02040503050406030204" charset="0"/>
                        <a:cs typeface="Cambria Math" panose="02040503050406030204" charset="0"/>
                      </a:rPr>
                      <m:t>𝑚𝑎𝑥</m:t>
                    </m:r>
                    <m:d>
                      <m:dPr>
                        <m:ctrlPr>
                          <a:rPr lang="en-US" altLang="en-US" sz="2000" i="1" dirty="0">
                            <a:latin typeface="Cambria Math" panose="02040503050406030204" pitchFamily="18" charset="0"/>
                            <a:cs typeface="Cambria Math" panose="02040503050406030204" charset="0"/>
                          </a:rPr>
                        </m:ctrlPr>
                      </m:dPr>
                      <m:e>
                        <m:r>
                          <a:rPr lang="en-US" altLang="en-US" sz="2000" i="1" dirty="0">
                            <a:latin typeface="Cambria Math" panose="02040503050406030204" charset="0"/>
                            <a:cs typeface="Cambria Math" panose="02040503050406030204" charset="0"/>
                          </a:rPr>
                          <m:t>0,</m:t>
                        </m:r>
                        <m:r>
                          <a:rPr lang="en-US" altLang="en-US" sz="2000" i="1" dirty="0">
                            <a:latin typeface="Cambria Math" panose="02040503050406030204" charset="0"/>
                            <a:cs typeface="Cambria Math" panose="02040503050406030204" charset="0"/>
                          </a:rPr>
                          <m:t>𝑥</m:t>
                        </m:r>
                      </m:e>
                    </m:d>
                  </m:oMath>
                </a14:m>
                <a:endParaRPr lang="en-US" altLang="en-US" sz="2000" i="1" dirty="0">
                  <a:latin typeface="Cambria Math" panose="02040503050406030204" charset="0"/>
                  <a:cs typeface="Cambria Math" panose="02040503050406030204" charset="0"/>
                </a:endParaRPr>
              </a:p>
              <a:p>
                <a:pPr lvl="0" eaLnBrk="0" fontAlgn="base" hangingPunct="0">
                  <a:spcBef>
                    <a:spcPct val="0"/>
                  </a:spcBef>
                  <a:spcAft>
                    <a:spcPct val="0"/>
                  </a:spcAft>
                </a:pPr>
                <a:r>
                  <a:rPr lang="en-US" altLang="en-US" sz="2000" dirty="0">
                    <a:latin typeface="Times New Roman" panose="02020603050405020304" pitchFamily="18" charset="0"/>
                    <a:cs typeface="Times New Roman" panose="02020603050405020304" pitchFamily="18" charset="0"/>
                  </a:rPr>
                  <a:t>5. Repeat convolution blocks to extract hierarchical ECG features.</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2000" b="1" dirty="0">
                    <a:latin typeface="Times New Roman" panose="02020603050405020304" pitchFamily="18" charset="0"/>
                    <a:cs typeface="Times New Roman" panose="02020603050405020304" pitchFamily="18" charset="0"/>
                  </a:rPr>
                  <a:t>Result:</a:t>
                </a: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CNN learns local morphological patterns</a:t>
                </a: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Output feature representation:</a:t>
                </a:r>
              </a:p>
              <a:p>
                <a:pPr marL="342900" lvl="0" indent="-342900" eaLnBrk="0" fontAlgn="base" hangingPunct="0">
                  <a:spcBef>
                    <a:spcPct val="0"/>
                  </a:spcBef>
                  <a:spcAft>
                    <a:spcPct val="0"/>
                  </a:spcAft>
                  <a:buFont typeface="Arial" panose="020B0604020202020204" pitchFamily="34" charset="0"/>
                  <a:buChar char="•"/>
                </a:pPr>
                <a14:m>
                  <m:oMath xmlns:m="http://schemas.openxmlformats.org/officeDocument/2006/math">
                    <m:r>
                      <a:rPr lang="en-US" sz="2000" i="1">
                        <a:latin typeface="Cambria Math" panose="02040503050406030204" charset="0"/>
                        <a:cs typeface="Cambria Math" panose="02040503050406030204" charset="0"/>
                      </a:rPr>
                      <m:t>𝐹</m:t>
                    </m:r>
                    <m:r>
                      <a:rPr lang="en-US" sz="2000" i="1">
                        <a:latin typeface="Cambria Math" panose="02040503050406030204" charset="0"/>
                        <a:ea typeface="MS Mincho" charset="0"/>
                        <a:cs typeface="Cambria Math" panose="02040503050406030204" charset="0"/>
                      </a:rPr>
                      <m:t>∈</m:t>
                    </m:r>
                    <m:sSup>
                      <m:sSupPr>
                        <m:ctrlPr>
                          <a:rPr lang="en-US" sz="2000" i="1">
                            <a:latin typeface="Cambria Math" panose="02040503050406030204" pitchFamily="18" charset="0"/>
                            <a:ea typeface="MS Mincho" charset="0"/>
                          </a:rPr>
                        </m:ctrlPr>
                      </m:sSupPr>
                      <m:e>
                        <m:r>
                          <a:rPr lang="en-IN" sz="2000" i="1">
                            <a:latin typeface="Cambria Math" panose="02040503050406030204" pitchFamily="18" charset="0"/>
                            <a:ea typeface="MS Mincho" charset="0"/>
                          </a:rPr>
                          <m:t>𝑅</m:t>
                        </m:r>
                      </m:e>
                      <m:sup>
                        <m:r>
                          <a:rPr lang="en-IN" sz="2000" i="1">
                            <a:latin typeface="Cambria Math" panose="02040503050406030204" pitchFamily="18" charset="0"/>
                            <a:ea typeface="MS Mincho" charset="0"/>
                          </a:rPr>
                          <m:t>𝑑</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𝐿</m:t>
                        </m:r>
                      </m:sup>
                    </m:sSup>
                  </m:oMath>
                </a14:m>
                <a:endParaRPr lang="en-IN" sz="2000" dirty="0">
                  <a:latin typeface="Times New Roman" panose="02020603050405020304" pitchFamily="18" charset="0"/>
                  <a:ea typeface="Cambria Math" panose="02040503050406030204" pitchFamily="18" charset="0"/>
                </a:endParaRPr>
              </a:p>
              <a:p>
                <a:r>
                  <a:rPr lang="en-US" altLang="en-US" sz="2000" dirty="0">
                    <a:latin typeface="Times New Roman" panose="02020603050405020304" pitchFamily="18" charset="0"/>
                    <a:cs typeface="Times New Roman" panose="02020603050405020304" pitchFamily="18" charset="0"/>
                  </a:rPr>
                  <a:t>Where:</a:t>
                </a:r>
                <a:r>
                  <a:rPr lang="zh-CN"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d = feature dimension</a:t>
                </a:r>
                <a:r>
                  <a:rPr lang="en-IN" altLang="en-US"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L = temporal length</a:t>
                </a:r>
                <a:endParaRPr 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93058" y="988187"/>
                <a:ext cx="10415270" cy="5594223"/>
              </a:xfrm>
              <a:prstGeom prst="rect">
                <a:avLst/>
              </a:prstGeom>
              <a:blipFill>
                <a:blip r:embed="rId2"/>
                <a:stretch>
                  <a:fillRect l="-644" t="-545" b="-654"/>
                </a:stretch>
              </a:blipFill>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634365" y="889635"/>
            <a:ext cx="3081020" cy="1205865"/>
          </a:xfrm>
          <a:prstGeom prst="rect">
            <a:avLst/>
          </a:prstGeom>
          <a:noFill/>
        </p:spPr>
        <p:txBody>
          <a:bodyPr wrap="square" rtlCol="0">
            <a:noAutofit/>
          </a:bodyPr>
          <a:lstStyle/>
          <a:p>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 Box 3"/>
              <p:cNvSpPr txBox="1"/>
              <p:nvPr/>
            </p:nvSpPr>
            <p:spPr>
              <a:xfrm>
                <a:off x="317182" y="493581"/>
                <a:ext cx="11557635" cy="6364419"/>
              </a:xfrm>
              <a:prstGeom prst="rect">
                <a:avLst/>
              </a:prstGeom>
              <a:noFill/>
            </p:spPr>
            <p:txBody>
              <a:bodyPr wrap="square" rtlCol="0">
                <a:noAutofit/>
              </a:bodyPr>
              <a:lstStyle/>
              <a:p>
                <a:r>
                  <a:rPr lang="en-US" sz="2000" b="1" dirty="0">
                    <a:latin typeface="Times New Roman" panose="02020603050405020304" pitchFamily="18" charset="0"/>
                    <a:cs typeface="Times New Roman" panose="02020603050405020304" pitchFamily="18" charset="0"/>
                  </a:rPr>
                  <a:t>2. Transformer Encoder with Temporal Attention</a:t>
                </a:r>
              </a:p>
              <a:p>
                <a:endParaRPr lang="en-US" b="1"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Input:</a:t>
                </a:r>
                <a:r>
                  <a:rPr lang="en-US" altLang="en-US" sz="2000" dirty="0">
                    <a:latin typeface="Times New Roman" panose="02020603050405020304" pitchFamily="18" charset="0"/>
                    <a:cs typeface="Times New Roman" panose="02020603050405020304" pitchFamily="18" charset="0"/>
                  </a:rPr>
                  <a:t> CNN feature map </a:t>
                </a:r>
                <a:r>
                  <a:rPr lang="zh-CN" altLang="en-US" sz="2000" dirty="0">
                    <a:latin typeface="Times New Roman" panose="02020603050405020304" pitchFamily="18" charset="0"/>
                    <a:cs typeface="Times New Roman" panose="02020603050405020304" pitchFamily="18" charset="0"/>
                  </a:rPr>
                  <a:t>𝐹</a:t>
                </a:r>
              </a:p>
              <a:p>
                <a:r>
                  <a:rPr lang="en-US" altLang="en-US" sz="2000" b="1" dirty="0">
                    <a:latin typeface="Times New Roman" panose="02020603050405020304" pitchFamily="18" charset="0"/>
                    <a:cs typeface="Times New Roman" panose="02020603050405020304" pitchFamily="18" charset="0"/>
                  </a:rPr>
                  <a:t>Output: </a:t>
                </a:r>
                <a:r>
                  <a:rPr lang="en-US" altLang="en-US" sz="2000" dirty="0">
                    <a:latin typeface="Times New Roman" panose="02020603050405020304" pitchFamily="18" charset="0"/>
                    <a:cs typeface="Times New Roman" panose="02020603050405020304" pitchFamily="18" charset="0"/>
                  </a:rPr>
                  <a:t>Predicted ECG class</a:t>
                </a:r>
                <a:endParaRPr lang="zh-CN" altLang="en-US" sz="2000"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Steps:</a:t>
                </a:r>
              </a:p>
              <a:p>
                <a:r>
                  <a:rPr lang="en-US" altLang="en-US" sz="2000" dirty="0">
                    <a:latin typeface="Times New Roman" panose="02020603050405020304" pitchFamily="18" charset="0"/>
                    <a:cs typeface="Times New Roman" panose="02020603050405020304" pitchFamily="18" charset="0"/>
                  </a:rPr>
                  <a:t>1. Feed CNN features into Transformer Encoder</a:t>
                </a:r>
              </a:p>
              <a:p>
                <a:r>
                  <a:rPr lang="en-US" altLang="en-US" sz="2000" dirty="0">
                    <a:latin typeface="Times New Roman" panose="02020603050405020304" pitchFamily="18" charset="0"/>
                    <a:cs typeface="Times New Roman" panose="02020603050405020304" pitchFamily="18" charset="0"/>
                  </a:rPr>
                  <a:t>2. Compute Self-Attention: </a:t>
                </a:r>
              </a:p>
              <a:p>
                <a:r>
                  <a:rPr lang="en-US" altLang="en-US"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en-US" sz="2000" i="1">
                        <a:latin typeface="Cambria Math" panose="02040503050406030204" charset="0"/>
                        <a:cs typeface="Cambria Math" panose="02040503050406030204" charset="0"/>
                      </a:rPr>
                      <m:t>𝐴𝑡𝑡𝑒𝑛𝑡𝑖𝑜𝑛</m:t>
                    </m:r>
                    <m:d>
                      <m:dPr>
                        <m:ctrlPr>
                          <a:rPr lang="en-US" altLang="en-US" sz="2000" i="1">
                            <a:latin typeface="Cambria Math" panose="02040503050406030204" pitchFamily="18" charset="0"/>
                            <a:cs typeface="Cambria Math" panose="02040503050406030204" charset="0"/>
                          </a:rPr>
                        </m:ctrlPr>
                      </m:dPr>
                      <m:e>
                        <m:r>
                          <a:rPr lang="en-US" altLang="en-US" sz="2000" i="1">
                            <a:latin typeface="Cambria Math" panose="02040503050406030204" charset="0"/>
                            <a:cs typeface="Cambria Math" panose="02040503050406030204" charset="0"/>
                          </a:rPr>
                          <m:t>𝑄</m:t>
                        </m:r>
                        <m:r>
                          <a:rPr lang="en-US" altLang="en-US" sz="2000" i="1">
                            <a:latin typeface="Cambria Math" panose="02040503050406030204" charset="0"/>
                            <a:ea typeface="MS Mincho" charset="0"/>
                            <a:cs typeface="Cambria Math" panose="02040503050406030204" charset="0"/>
                          </a:rPr>
                          <m:t>,</m:t>
                        </m:r>
                        <m:r>
                          <a:rPr lang="en-US" altLang="en-US" sz="2000" i="1">
                            <a:latin typeface="Cambria Math" panose="02040503050406030204" charset="0"/>
                            <a:cs typeface="Cambria Math" panose="02040503050406030204" charset="0"/>
                          </a:rPr>
                          <m:t>𝐾</m:t>
                        </m:r>
                        <m:r>
                          <a:rPr lang="en-US" altLang="en-US" sz="2000" i="1">
                            <a:latin typeface="Cambria Math" panose="02040503050406030204" charset="0"/>
                            <a:ea typeface="MS Mincho" charset="0"/>
                            <a:cs typeface="Cambria Math" panose="02040503050406030204" charset="0"/>
                          </a:rPr>
                          <m:t>,</m:t>
                        </m:r>
                        <m:r>
                          <a:rPr lang="en-US" altLang="en-US" sz="2000" i="1">
                            <a:latin typeface="Cambria Math" panose="02040503050406030204" charset="0"/>
                            <a:cs typeface="Cambria Math" panose="02040503050406030204" charset="0"/>
                          </a:rPr>
                          <m:t>𝑉</m:t>
                        </m:r>
                      </m:e>
                    </m:d>
                    <m:r>
                      <a:rPr lang="en-US" altLang="en-US" sz="2000" i="1">
                        <a:latin typeface="Cambria Math" panose="02040503050406030204" charset="0"/>
                        <a:ea typeface="MS Mincho" charset="0"/>
                        <a:cs typeface="Cambria Math" panose="02040503050406030204" charset="0"/>
                      </a:rPr>
                      <m:t>=</m:t>
                    </m:r>
                    <m:r>
                      <a:rPr lang="en-US" altLang="en-US" sz="2000" i="1">
                        <a:latin typeface="Cambria Math" panose="02040503050406030204" charset="0"/>
                        <a:cs typeface="Cambria Math" panose="02040503050406030204" charset="0"/>
                      </a:rPr>
                      <m:t>𝑆𝑜𝑓𝑡𝑚𝑎𝑥</m:t>
                    </m:r>
                    <m:d>
                      <m:dPr>
                        <m:ctrlPr>
                          <a:rPr lang="en-US" altLang="en-US" sz="2000" i="1">
                            <a:latin typeface="Cambria Math" panose="02040503050406030204" pitchFamily="18" charset="0"/>
                            <a:cs typeface="Cambria Math" panose="02040503050406030204" charset="0"/>
                          </a:rPr>
                        </m:ctrlPr>
                      </m:dPr>
                      <m:e>
                        <m:f>
                          <m:fPr>
                            <m:ctrlPr>
                              <a:rPr lang="en-US" altLang="en-US" sz="2000" i="1">
                                <a:latin typeface="Cambria Math" panose="02040503050406030204" pitchFamily="18" charset="0"/>
                                <a:cs typeface="Cambria Math" panose="02040503050406030204" charset="0"/>
                              </a:rPr>
                            </m:ctrlPr>
                          </m:fPr>
                          <m:num>
                            <m:r>
                              <a:rPr lang="en-US" altLang="en-US" sz="2000" i="1">
                                <a:latin typeface="Cambria Math" panose="02040503050406030204" charset="0"/>
                                <a:cs typeface="Cambria Math" panose="02040503050406030204" charset="0"/>
                              </a:rPr>
                              <m:t>𝑄𝐾</m:t>
                            </m:r>
                            <m:r>
                              <a:rPr lang="en-US" altLang="en-US" sz="2000" i="1" baseline="30000">
                                <a:latin typeface="Cambria Math" panose="02040503050406030204" charset="0"/>
                                <a:cs typeface="Cambria Math" panose="02040503050406030204" charset="0"/>
                              </a:rPr>
                              <m:t>𝑇</m:t>
                            </m:r>
                          </m:num>
                          <m:den>
                            <m:rad>
                              <m:radPr>
                                <m:degHide m:val="on"/>
                                <m:ctrlPr>
                                  <a:rPr lang="en-US" altLang="en-US" sz="2000" i="1">
                                    <a:latin typeface="Cambria Math" panose="02040503050406030204" pitchFamily="18" charset="0"/>
                                    <a:cs typeface="Cambria Math" panose="02040503050406030204" charset="0"/>
                                  </a:rPr>
                                </m:ctrlPr>
                              </m:radPr>
                              <m:deg/>
                              <m:e>
                                <m:r>
                                  <a:rPr lang="en-US" altLang="en-US" sz="2000" i="1">
                                    <a:latin typeface="Cambria Math" panose="02040503050406030204" charset="0"/>
                                    <a:cs typeface="Cambria Math" panose="02040503050406030204" charset="0"/>
                                  </a:rPr>
                                  <m:t>𝑑</m:t>
                                </m:r>
                                <m:r>
                                  <a:rPr lang="en-US" altLang="en-US" sz="2000" i="1" baseline="-25000">
                                    <a:latin typeface="Cambria Math" panose="02040503050406030204" charset="0"/>
                                    <a:cs typeface="Cambria Math" panose="02040503050406030204" charset="0"/>
                                  </a:rPr>
                                  <m:t>𝑘</m:t>
                                </m:r>
                              </m:e>
                            </m:rad>
                          </m:den>
                        </m:f>
                      </m:e>
                    </m:d>
                    <m:r>
                      <a:rPr lang="en-US" altLang="en-US" sz="2000" i="1">
                        <a:latin typeface="Cambria Math" panose="02040503050406030204" charset="0"/>
                        <a:cs typeface="Cambria Math" panose="02040503050406030204" charset="0"/>
                      </a:rPr>
                      <m:t>𝑉</m:t>
                    </m:r>
                  </m:oMath>
                </a14:m>
                <a:endParaRPr lang="en-US" altLang="en-US" sz="2000" i="1" dirty="0">
                  <a:latin typeface="Cambria Math" panose="02040503050406030204" charset="0"/>
                  <a:cs typeface="Cambria Math" panose="02040503050406030204" charset="0"/>
                </a:endParaRPr>
              </a:p>
              <a:p>
                <a:r>
                  <a:rPr lang="en-US" altLang="en-US" sz="2000" dirty="0">
                    <a:latin typeface="Times New Roman" panose="02020603050405020304" pitchFamily="18" charset="0"/>
                    <a:cs typeface="Times New Roman" panose="02020603050405020304" pitchFamily="18" charset="0"/>
                  </a:rPr>
                  <a:t>3. Generate contextual feature representation</a:t>
                </a:r>
              </a:p>
              <a:p>
                <a:r>
                  <a:rPr lang="en-US" altLang="en-US" sz="2000" dirty="0">
                    <a:latin typeface="Times New Roman" panose="02020603050405020304" pitchFamily="18" charset="0"/>
                    <a:cs typeface="Times New Roman" panose="02020603050405020304" pitchFamily="18" charset="0"/>
                  </a:rPr>
                  <a:t>4. Apply Temporal Attention Pooling:</a:t>
                </a:r>
              </a:p>
              <a:p>
                <a:r>
                  <a:rPr lang="en-US" altLang="en-US"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en-US" sz="2000" i="1">
                        <a:latin typeface="Cambria Math" panose="02040503050406030204" charset="0"/>
                        <a:cs typeface="Cambria Math" panose="02040503050406030204" charset="0"/>
                      </a:rPr>
                      <m:t>𝛼</m:t>
                    </m:r>
                    <m:r>
                      <a:rPr lang="en-US" altLang="en-US" sz="2000" i="1" baseline="-25000">
                        <a:latin typeface="Cambria Math" panose="02040503050406030204" charset="0"/>
                        <a:cs typeface="Cambria Math" panose="02040503050406030204" charset="0"/>
                      </a:rPr>
                      <m:t>𝑡</m:t>
                    </m:r>
                    <m:r>
                      <a:rPr lang="en-US" altLang="en-US" sz="2000" i="1">
                        <a:latin typeface="Cambria Math" panose="02040503050406030204" charset="0"/>
                        <a:cs typeface="Cambria Math" panose="02040503050406030204" charset="0"/>
                      </a:rPr>
                      <m:t>=</m:t>
                    </m:r>
                    <m:f>
                      <m:fPr>
                        <m:ctrlPr>
                          <a:rPr lang="en-US" altLang="en-US" sz="2000" i="1">
                            <a:latin typeface="Cambria Math" panose="02040503050406030204" pitchFamily="18" charset="0"/>
                            <a:cs typeface="Cambria Math" panose="02040503050406030204" charset="0"/>
                          </a:rPr>
                        </m:ctrlPr>
                      </m:fPr>
                      <m:num>
                        <m:r>
                          <a:rPr lang="en-US" altLang="en-US" sz="2000" i="1">
                            <a:latin typeface="Cambria Math" panose="02040503050406030204" charset="0"/>
                            <a:cs typeface="Cambria Math" panose="02040503050406030204" charset="0"/>
                          </a:rPr>
                          <m:t>𝑒𝑥𝑝</m:t>
                        </m:r>
                        <m:d>
                          <m:dPr>
                            <m:ctrlPr>
                              <a:rPr lang="en-US" altLang="en-US" sz="2000" i="1">
                                <a:latin typeface="Cambria Math" panose="02040503050406030204" pitchFamily="18" charset="0"/>
                                <a:cs typeface="Cambria Math" panose="02040503050406030204" charset="0"/>
                              </a:rPr>
                            </m:ctrlPr>
                          </m:dPr>
                          <m:e>
                            <m:r>
                              <a:rPr lang="en-US" altLang="en-US" sz="2000" i="1">
                                <a:latin typeface="Cambria Math" panose="02040503050406030204" charset="0"/>
                                <a:cs typeface="Cambria Math" panose="02040503050406030204" charset="0"/>
                              </a:rPr>
                              <m:t>𝑒</m:t>
                            </m:r>
                            <m:r>
                              <a:rPr lang="en-US" altLang="en-US" sz="2000" i="1" baseline="-25000">
                                <a:latin typeface="Cambria Math" panose="02040503050406030204" charset="0"/>
                                <a:cs typeface="Cambria Math" panose="02040503050406030204" charset="0"/>
                              </a:rPr>
                              <m:t>𝑡</m:t>
                            </m:r>
                          </m:e>
                        </m:d>
                      </m:num>
                      <m:den>
                        <m:nary>
                          <m:naryPr>
                            <m:chr m:val="∑"/>
                            <m:limLoc m:val="subSup"/>
                            <m:ctrlPr>
                              <a:rPr lang="en-US" altLang="en-US" sz="2000" i="1">
                                <a:latin typeface="Cambria Math" panose="02040503050406030204" pitchFamily="18" charset="0"/>
                                <a:cs typeface="Cambria Math" panose="02040503050406030204" charset="0"/>
                              </a:rPr>
                            </m:ctrlPr>
                          </m:naryPr>
                          <m:sub>
                            <m:r>
                              <a:rPr lang="en-US" altLang="en-US" sz="2000" i="1">
                                <a:latin typeface="Cambria Math" panose="02040503050406030204" charset="0"/>
                                <a:cs typeface="Cambria Math" panose="02040503050406030204" charset="0"/>
                              </a:rPr>
                              <m:t>𝑖</m:t>
                            </m:r>
                            <m:r>
                              <a:rPr lang="en-US" altLang="en-US" sz="2000" i="1">
                                <a:latin typeface="Cambria Math" panose="02040503050406030204" charset="0"/>
                                <a:cs typeface="Cambria Math" panose="02040503050406030204" charset="0"/>
                              </a:rPr>
                              <m:t>=1</m:t>
                            </m:r>
                          </m:sub>
                          <m:sup>
                            <m:r>
                              <a:rPr lang="en-US" altLang="en-US" sz="2000" i="1">
                                <a:latin typeface="Cambria Math" panose="02040503050406030204" charset="0"/>
                                <a:cs typeface="Cambria Math" panose="02040503050406030204" charset="0"/>
                              </a:rPr>
                              <m:t>𝑇</m:t>
                            </m:r>
                          </m:sup>
                          <m:e>
                            <m:r>
                              <a:rPr lang="en-US" altLang="en-US" sz="2000" i="1">
                                <a:latin typeface="Cambria Math" panose="02040503050406030204" charset="0"/>
                                <a:cs typeface="Cambria Math" panose="02040503050406030204" charset="0"/>
                              </a:rPr>
                              <m:t>𝑒𝑥𝑝</m:t>
                            </m:r>
                            <m:d>
                              <m:dPr>
                                <m:ctrlPr>
                                  <a:rPr lang="en-US" altLang="en-US" sz="2000" i="1">
                                    <a:latin typeface="Cambria Math" panose="02040503050406030204" pitchFamily="18" charset="0"/>
                                    <a:cs typeface="Cambria Math" panose="02040503050406030204" charset="0"/>
                                  </a:rPr>
                                </m:ctrlPr>
                              </m:dPr>
                              <m:e>
                                <m:r>
                                  <a:rPr lang="en-US" altLang="en-US" sz="2000" i="1">
                                    <a:latin typeface="Cambria Math" panose="02040503050406030204" charset="0"/>
                                    <a:cs typeface="Cambria Math" panose="02040503050406030204" charset="0"/>
                                  </a:rPr>
                                  <m:t>𝑒</m:t>
                                </m:r>
                                <m:r>
                                  <a:rPr lang="en-US" altLang="en-US" sz="2000" i="1" baseline="-25000">
                                    <a:latin typeface="Cambria Math" panose="02040503050406030204" charset="0"/>
                                    <a:cs typeface="Cambria Math" panose="02040503050406030204" charset="0"/>
                                  </a:rPr>
                                  <m:t>𝑗</m:t>
                                </m:r>
                              </m:e>
                            </m:d>
                          </m:e>
                        </m:nary>
                      </m:den>
                    </m:f>
                  </m:oMath>
                </a14:m>
                <a:endParaRPr lang="en-IN" altLang="en-US" sz="2000" baseline="-25000" dirty="0">
                  <a:latin typeface="Times New Roman" panose="02020603050405020304" pitchFamily="18" charset="0"/>
                  <a:cs typeface="Cambria Math" panose="02040503050406030204" charset="0"/>
                </a:endParaRPr>
              </a:p>
              <a:p>
                <a:r>
                  <a:rPr lang="en-IN" altLang="en-US" sz="2000" dirty="0">
                    <a:latin typeface="Times New Roman" panose="02020603050405020304" pitchFamily="18" charset="0"/>
                    <a:cs typeface="Times New Roman" panose="02020603050405020304" pitchFamily="18" charset="0"/>
                  </a:rPr>
                  <a:t>5. </a:t>
                </a:r>
                <a:r>
                  <a:rPr lang="en-US" altLang="en-US" sz="2000" dirty="0">
                    <a:latin typeface="Times New Roman" panose="02020603050405020304" pitchFamily="18" charset="0"/>
                    <a:cs typeface="Times New Roman" panose="02020603050405020304" pitchFamily="18" charset="0"/>
                  </a:rPr>
                  <a:t>Compute weighted feature vector:</a:t>
                </a:r>
                <a:endParaRPr lang="en-US" altLang="en-US" sz="2000" dirty="0"/>
              </a:p>
              <a:p>
                <a:r>
                  <a:rPr lang="en-US" altLang="en-US" sz="2000" dirty="0"/>
                  <a:t>                                                               		 </a:t>
                </a:r>
                <a14:m>
                  <m:oMath xmlns:m="http://schemas.openxmlformats.org/officeDocument/2006/math">
                    <m:r>
                      <a:rPr lang="en-US" altLang="en-US" sz="2000" i="1">
                        <a:latin typeface="Cambria Math" panose="02040503050406030204" charset="0"/>
                        <a:cs typeface="Cambria Math" panose="02040503050406030204" charset="0"/>
                      </a:rPr>
                      <m:t>𝑧</m:t>
                    </m:r>
                    <m:r>
                      <a:rPr lang="en-US" altLang="en-US" sz="2000" i="1">
                        <a:latin typeface="Cambria Math" panose="02040503050406030204" charset="0"/>
                        <a:cs typeface="Cambria Math" panose="02040503050406030204" charset="0"/>
                      </a:rPr>
                      <m:t>=</m:t>
                    </m:r>
                    <m:nary>
                      <m:naryPr>
                        <m:chr m:val="∑"/>
                        <m:limLoc m:val="undOvr"/>
                        <m:ctrlPr>
                          <a:rPr lang="en-US" altLang="en-US" sz="2000" i="1">
                            <a:latin typeface="Cambria Math" panose="02040503050406030204" pitchFamily="18" charset="0"/>
                            <a:cs typeface="Cambria Math" panose="02040503050406030204" charset="0"/>
                          </a:rPr>
                        </m:ctrlPr>
                      </m:naryPr>
                      <m:sub>
                        <m:r>
                          <a:rPr lang="en-US" altLang="en-US" sz="2000" i="1">
                            <a:latin typeface="Cambria Math" panose="02040503050406030204" charset="0"/>
                            <a:cs typeface="Cambria Math" panose="02040503050406030204" charset="0"/>
                          </a:rPr>
                          <m:t>𝑖</m:t>
                        </m:r>
                        <m:r>
                          <a:rPr lang="en-US" altLang="en-US" sz="2000" i="1">
                            <a:latin typeface="Cambria Math" panose="02040503050406030204" charset="0"/>
                            <a:cs typeface="Cambria Math" panose="02040503050406030204" charset="0"/>
                          </a:rPr>
                          <m:t>=1</m:t>
                        </m:r>
                      </m:sub>
                      <m:sup>
                        <m:r>
                          <a:rPr lang="en-US" altLang="en-US" sz="2000" i="1">
                            <a:latin typeface="Cambria Math" panose="02040503050406030204" charset="0"/>
                            <a:cs typeface="Cambria Math" panose="02040503050406030204" charset="0"/>
                          </a:rPr>
                          <m:t>𝑇</m:t>
                        </m:r>
                      </m:sup>
                      <m:e>
                        <m:r>
                          <a:rPr lang="en-US" altLang="en-US" sz="2000" i="1">
                            <a:latin typeface="Cambria Math" panose="02040503050406030204" charset="0"/>
                            <a:cs typeface="Cambria Math" panose="02040503050406030204" charset="0"/>
                          </a:rPr>
                          <m:t>𝛼</m:t>
                        </m:r>
                        <m:r>
                          <a:rPr lang="en-US" altLang="en-US" sz="2000" i="1" baseline="-25000">
                            <a:latin typeface="Cambria Math" panose="02040503050406030204" charset="0"/>
                            <a:cs typeface="Cambria Math" panose="02040503050406030204" charset="0"/>
                          </a:rPr>
                          <m:t>𝑡</m:t>
                        </m:r>
                      </m:e>
                    </m:nary>
                    <m:r>
                      <a:rPr lang="en-US" altLang="en-US" sz="2000" i="1">
                        <a:latin typeface="Cambria Math" panose="02040503050406030204" charset="0"/>
                        <a:cs typeface="Cambria Math" panose="02040503050406030204" charset="0"/>
                      </a:rPr>
                      <m:t>h</m:t>
                    </m:r>
                    <m:r>
                      <a:rPr lang="en-US" altLang="en-US" sz="2000" i="1" baseline="-25000" smtClean="0">
                        <a:latin typeface="Cambria Math" panose="02040503050406030204" charset="0"/>
                        <a:cs typeface="Cambria Math" panose="02040503050406030204" charset="0"/>
                      </a:rPr>
                      <m:t>𝑡</m:t>
                    </m:r>
                  </m:oMath>
                </a14:m>
                <a:endParaRPr lang="en-US" altLang="en-US" sz="2000" baseline="-25000" dirty="0"/>
              </a:p>
              <a:p>
                <a:r>
                  <a:rPr lang="en-US" altLang="en-US" sz="2000" dirty="0">
                    <a:latin typeface="Times New Roman" panose="02020603050405020304" pitchFamily="18" charset="0"/>
                    <a:cs typeface="Times New Roman" panose="02020603050405020304" pitchFamily="18" charset="0"/>
                  </a:rPr>
                  <a:t>6. Pass through Fully Connected + </a:t>
                </a:r>
                <a:r>
                  <a:rPr lang="en-US" altLang="en-US" sz="2000" dirty="0" err="1">
                    <a:latin typeface="Times New Roman" panose="02020603050405020304" pitchFamily="18" charset="0"/>
                    <a:cs typeface="Times New Roman" panose="02020603050405020304" pitchFamily="18" charset="0"/>
                  </a:rPr>
                  <a:t>Softmax</a:t>
                </a:r>
                <a:r>
                  <a:rPr lang="en-US" altLang="en-US" sz="2000" dirty="0">
                    <a:latin typeface="Times New Roman" panose="02020603050405020304" pitchFamily="18" charset="0"/>
                    <a:cs typeface="Times New Roman" panose="02020603050405020304" pitchFamily="18" charset="0"/>
                  </a:rPr>
                  <a:t>:</a:t>
                </a:r>
              </a:p>
              <a:p>
                <a:pPr/>
                <a14:m>
                  <m:oMathPara xmlns:m="http://schemas.openxmlformats.org/officeDocument/2006/math">
                    <m:oMathParaPr>
                      <m:jc m:val="centerGroup"/>
                    </m:oMathParaPr>
                    <m:oMath xmlns:m="http://schemas.openxmlformats.org/officeDocument/2006/math">
                      <m:acc>
                        <m:accPr>
                          <m:chr m:val="̂"/>
                          <m:ctrlPr>
                            <a:rPr lang="en-IN" altLang="en-US" sz="2000" b="0" i="1" smtClean="0">
                              <a:latin typeface="Cambria Math" panose="02040503050406030204" pitchFamily="18" charset="0"/>
                              <a:cs typeface="Times New Roman" panose="02020603050405020304" pitchFamily="18" charset="0"/>
                            </a:rPr>
                          </m:ctrlPr>
                        </m:accPr>
                        <m:e>
                          <m:r>
                            <a:rPr lang="en-IN" altLang="en-US" sz="2000" b="0" i="1" smtClean="0">
                              <a:latin typeface="Cambria Math" panose="02040503050406030204" pitchFamily="18" charset="0"/>
                              <a:cs typeface="Times New Roman" panose="02020603050405020304" pitchFamily="18" charset="0"/>
                            </a:rPr>
                            <m:t>𝑦</m:t>
                          </m:r>
                        </m:e>
                      </m:acc>
                      <m:r>
                        <a:rPr lang="en-IN" altLang="en-US" sz="2000" b="0" i="1" smtClean="0">
                          <a:latin typeface="Cambria Math" panose="02040503050406030204" pitchFamily="18" charset="0"/>
                          <a:cs typeface="Times New Roman" panose="02020603050405020304" pitchFamily="18" charset="0"/>
                        </a:rPr>
                        <m:t>=</m:t>
                      </m:r>
                      <m:r>
                        <a:rPr lang="en-IN" altLang="en-US" sz="2000" b="0" i="1" smtClean="0">
                          <a:latin typeface="Cambria Math" panose="02040503050406030204" pitchFamily="18" charset="0"/>
                          <a:cs typeface="Times New Roman" panose="02020603050405020304" pitchFamily="18" charset="0"/>
                        </a:rPr>
                        <m:t>𝑆𝑜𝑓𝑡𝑚𝑎𝑥</m:t>
                      </m:r>
                      <m:d>
                        <m:dPr>
                          <m:ctrlPr>
                            <a:rPr lang="en-IN" altLang="en-US" sz="2000" b="0" i="1" smtClean="0">
                              <a:latin typeface="Cambria Math" panose="02040503050406030204" pitchFamily="18" charset="0"/>
                              <a:cs typeface="Times New Roman" panose="02020603050405020304" pitchFamily="18" charset="0"/>
                            </a:rPr>
                          </m:ctrlPr>
                        </m:dPr>
                        <m:e>
                          <m:sSub>
                            <m:sSubPr>
                              <m:ctrlPr>
                                <a:rPr lang="en-IN" altLang="en-US" sz="2000" b="0" i="1" smtClean="0">
                                  <a:latin typeface="Cambria Math" panose="02040503050406030204" pitchFamily="18" charset="0"/>
                                  <a:cs typeface="Times New Roman" panose="02020603050405020304" pitchFamily="18" charset="0"/>
                                </a:rPr>
                              </m:ctrlPr>
                            </m:sSubPr>
                            <m:e>
                              <m:r>
                                <a:rPr lang="en-IN" altLang="en-US" sz="2000" b="0" i="1" smtClean="0">
                                  <a:latin typeface="Cambria Math" panose="02040503050406030204" pitchFamily="18" charset="0"/>
                                  <a:cs typeface="Times New Roman" panose="02020603050405020304" pitchFamily="18" charset="0"/>
                                </a:rPr>
                                <m:t>𝑊</m:t>
                              </m:r>
                            </m:e>
                            <m:sub>
                              <m:r>
                                <a:rPr lang="en-IN" altLang="en-US" sz="2000" b="0" i="1" smtClean="0">
                                  <a:latin typeface="Cambria Math" panose="02040503050406030204" pitchFamily="18" charset="0"/>
                                  <a:cs typeface="Times New Roman" panose="02020603050405020304" pitchFamily="18" charset="0"/>
                                </a:rPr>
                                <m:t>𝑧</m:t>
                              </m:r>
                            </m:sub>
                          </m:sSub>
                          <m:r>
                            <a:rPr lang="en-IN" altLang="en-US" sz="2000" b="0" i="1" smtClean="0">
                              <a:latin typeface="Cambria Math" panose="02040503050406030204" pitchFamily="18" charset="0"/>
                              <a:cs typeface="Times New Roman" panose="02020603050405020304" pitchFamily="18" charset="0"/>
                            </a:rPr>
                            <m:t>+</m:t>
                          </m:r>
                          <m:r>
                            <a:rPr lang="en-IN" altLang="en-US" sz="2000" b="0" i="1" smtClean="0">
                              <a:latin typeface="Cambria Math" panose="02040503050406030204" pitchFamily="18" charset="0"/>
                              <a:cs typeface="Times New Roman" panose="02020603050405020304" pitchFamily="18" charset="0"/>
                            </a:rPr>
                            <m:t>𝑏</m:t>
                          </m:r>
                        </m:e>
                      </m:d>
                    </m:oMath>
                  </m:oMathPara>
                </a14:m>
                <a:endParaRPr lang="en-IN" altLang="en-US" sz="2000" b="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7. </a:t>
                </a:r>
                <a:r>
                  <a:rPr lang="en-US" altLang="en-US" sz="2000" dirty="0">
                    <a:latin typeface="Times New Roman" panose="02020603050405020304" pitchFamily="18" charset="0"/>
                    <a:cs typeface="Times New Roman" panose="02020603050405020304" pitchFamily="18" charset="0"/>
                  </a:rPr>
                  <a:t>Predict one among </a:t>
                </a:r>
                <a:r>
                  <a:rPr lang="en-US" altLang="en-US" sz="2000" dirty="0" err="1">
                    <a:latin typeface="Times New Roman" panose="02020603050405020304" pitchFamily="18" charset="0"/>
                    <a:cs typeface="Times New Roman" panose="02020603050405020304" pitchFamily="18" charset="0"/>
                  </a:rPr>
                  <a:t>ECGclasses</a:t>
                </a:r>
                <a:r>
                  <a:rPr lang="en-US" altLang="en-US" sz="2000" dirty="0">
                    <a:latin typeface="Times New Roman" panose="02020603050405020304" pitchFamily="18" charset="0"/>
                    <a:cs typeface="Times New Roman" panose="02020603050405020304" pitchFamily="18" charset="0"/>
                  </a:rPr>
                  <a:t>:</a:t>
                </a:r>
              </a:p>
              <a:p>
                <a:r>
                  <a:rPr lang="en-US" altLang="en-US" sz="2000" dirty="0">
                    <a:latin typeface="Times New Roman" panose="02020603050405020304" pitchFamily="18" charset="0"/>
                    <a:cs typeface="Times New Roman" panose="02020603050405020304" pitchFamily="18" charset="0"/>
                  </a:rPr>
                  <a:t>{CD, HYP, MI, NORM, STTC}</a:t>
                </a:r>
              </a:p>
              <a:p>
                <a:endParaRPr lang="en-US" altLang="en-US" sz="2000" dirty="0">
                  <a:latin typeface="Times New Roman" panose="02020603050405020304" pitchFamily="18" charset="0"/>
                  <a:cs typeface="Times New Roman" panose="02020603050405020304" pitchFamily="18" charset="0"/>
                </a:endParaRPr>
              </a:p>
            </p:txBody>
          </p:sp>
        </mc:Choice>
        <mc:Fallback xmlns="">
          <p:sp>
            <p:nvSpPr>
              <p:cNvPr id="4" name="Text Box 3"/>
              <p:cNvSpPr txBox="1">
                <a:spLocks noRot="1" noChangeAspect="1" noMove="1" noResize="1" noEditPoints="1" noAdjustHandles="1" noChangeArrowheads="1" noChangeShapeType="1" noTextEdit="1"/>
              </p:cNvSpPr>
              <p:nvPr/>
            </p:nvSpPr>
            <p:spPr>
              <a:xfrm>
                <a:off x="317182" y="493581"/>
                <a:ext cx="11557635" cy="6364419"/>
              </a:xfrm>
              <a:prstGeom prst="rect">
                <a:avLst/>
              </a:prstGeom>
              <a:blipFill>
                <a:blip r:embed="rId2"/>
                <a:stretch>
                  <a:fillRect l="-527" t="-575"/>
                </a:stretch>
              </a:blipFill>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p:cNvSpPr txBox="1"/>
          <p:nvPr/>
        </p:nvSpPr>
        <p:spPr>
          <a:xfrm>
            <a:off x="570763" y="236144"/>
            <a:ext cx="4132729"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Architecture Diagram</a:t>
            </a:r>
            <a:endParaRPr lang="en-US" sz="3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22F14B3-DF4D-4F18-8318-D5283BEDE935}"/>
              </a:ext>
            </a:extLst>
          </p:cNvPr>
          <p:cNvPicPr>
            <a:picLocks noChangeAspect="1"/>
          </p:cNvPicPr>
          <p:nvPr/>
        </p:nvPicPr>
        <p:blipFill rotWithShape="1">
          <a:blip r:embed="rId2"/>
          <a:srcRect t="4414" b="4175"/>
          <a:stretch/>
        </p:blipFill>
        <p:spPr>
          <a:xfrm>
            <a:off x="759912" y="790142"/>
            <a:ext cx="10327188" cy="593338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919A179-61D8-4D92-89CE-6A2F3A689B37}"/>
              </a:ext>
            </a:extLst>
          </p:cNvPr>
          <p:cNvSpPr txBox="1">
            <a:spLocks/>
          </p:cNvSpPr>
          <p:nvPr/>
        </p:nvSpPr>
        <p:spPr>
          <a:xfrm>
            <a:off x="526732" y="1572788"/>
            <a:ext cx="11138535" cy="474717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en-IN" altLang="en-US" b="1" dirty="0">
                <a:latin typeface="Times New Roman" panose="02020603050405020304" pitchFamily="18" charset="0"/>
                <a:cs typeface="Times New Roman" panose="02020603050405020304" pitchFamily="18" charset="0"/>
              </a:rPr>
              <a:t>Implementation steps:</a:t>
            </a:r>
            <a:endParaRPr lang="en-US" altLang="en-US" b="1"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400" dirty="0">
                <a:latin typeface="Times New Roman" panose="02020603050405020304" pitchFamily="18" charset="0"/>
                <a:cs typeface="Times New Roman" panose="02020603050405020304" pitchFamily="18" charset="0"/>
              </a:rPr>
              <a:t>1. Load multi-lead ECG signals from PTB-XL dataset</a:t>
            </a:r>
          </a:p>
          <a:p>
            <a:pPr marL="0" indent="0" algn="just">
              <a:lnSpc>
                <a:spcPct val="100000"/>
              </a:lnSpc>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2. Perform R-peak detection to locate heartbeats</a:t>
            </a:r>
          </a:p>
          <a:p>
            <a:pPr marL="0" indent="0" algn="just">
              <a:lnSpc>
                <a:spcPct val="100000"/>
              </a:lnSpc>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3. Segment ECG into individual beats</a:t>
            </a:r>
          </a:p>
          <a:p>
            <a:pPr marL="0" indent="0" algn="just">
              <a:lnSpc>
                <a:spcPct val="100000"/>
              </a:lnSpc>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4. Normalize segmented ECG beats</a:t>
            </a:r>
          </a:p>
          <a:p>
            <a:pPr marL="0" indent="0" algn="just">
              <a:lnSpc>
                <a:spcPct val="100000"/>
              </a:lnSpc>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5. Split dataset into training, validation, testing sets</a:t>
            </a:r>
          </a:p>
          <a:p>
            <a:pPr marL="0" indent="0" algn="just">
              <a:lnSpc>
                <a:spcPct val="100000"/>
              </a:lnSpc>
              <a:buNone/>
            </a:pPr>
            <a:r>
              <a:rPr lang="en-IN" altLang="en-US" sz="2400" dirty="0">
                <a:latin typeface="Times New Roman" panose="02020603050405020304" pitchFamily="18" charset="0"/>
                <a:cs typeface="Times New Roman" panose="02020603050405020304" pitchFamily="18" charset="0"/>
              </a:rPr>
              <a:t>6</a:t>
            </a:r>
            <a:r>
              <a:rPr lang="en-US" altLang="en-US" sz="2400" dirty="0">
                <a:latin typeface="Times New Roman" panose="02020603050405020304" pitchFamily="18" charset="0"/>
                <a:cs typeface="Times New Roman" panose="02020603050405020304" pitchFamily="18" charset="0"/>
              </a:rPr>
              <a:t>. Design CNN - Transformer - Attention architecture</a:t>
            </a:r>
          </a:p>
          <a:p>
            <a:pPr marL="0" indent="0">
              <a:lnSpc>
                <a:spcPct val="100000"/>
              </a:lnSpc>
              <a:buNone/>
            </a:pPr>
            <a:r>
              <a:rPr lang="en-IN" altLang="en-US" sz="2400" dirty="0">
                <a:latin typeface="Times New Roman" panose="02020603050405020304" pitchFamily="18" charset="0"/>
                <a:cs typeface="Times New Roman" panose="02020603050405020304" pitchFamily="18" charset="0"/>
              </a:rPr>
              <a:t>7. T</a:t>
            </a:r>
            <a:r>
              <a:rPr lang="en-US" sz="2400" dirty="0">
                <a:latin typeface="Times New Roman" panose="02020603050405020304" pitchFamily="18" charset="0"/>
                <a:cs typeface="Times New Roman" panose="02020603050405020304" pitchFamily="18" charset="0"/>
              </a:rPr>
              <a:t>rain the model using training data</a:t>
            </a:r>
          </a:p>
          <a:p>
            <a:pPr marL="0" indent="0">
              <a:lnSpc>
                <a:spcPct val="100000"/>
              </a:lnSpc>
              <a:buNone/>
            </a:pPr>
            <a:r>
              <a:rPr lang="en-US" sz="2400" dirty="0">
                <a:latin typeface="Times New Roman" panose="02020603050405020304" pitchFamily="18" charset="0"/>
                <a:cs typeface="Times New Roman" panose="02020603050405020304" pitchFamily="18" charset="0"/>
              </a:rPr>
              <a:t>8.Evaluate model using performance metrics</a:t>
            </a:r>
          </a:p>
          <a:p>
            <a:pPr marL="0" indent="0">
              <a:lnSpc>
                <a:spcPct val="150000"/>
              </a:lnSpc>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2C97D8E4-C83D-411D-A996-F3421EFFBB67}"/>
              </a:ext>
            </a:extLst>
          </p:cNvPr>
          <p:cNvSpPr txBox="1">
            <a:spLocks/>
          </p:cNvSpPr>
          <p:nvPr/>
        </p:nvSpPr>
        <p:spPr>
          <a:xfrm>
            <a:off x="526732" y="546685"/>
            <a:ext cx="10515600" cy="59848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New Roman" panose="02020603050405020304" pitchFamily="18" charset="0"/>
                <a:cs typeface="Times New Roman" panose="02020603050405020304" pitchFamily="18" charset="0"/>
              </a:rPr>
              <a:t>Implementation steps and Execution</a:t>
            </a:r>
          </a:p>
        </p:txBody>
      </p:sp>
    </p:spTree>
    <p:extLst>
      <p:ext uri="{BB962C8B-B14F-4D97-AF65-F5344CB8AC3E}">
        <p14:creationId xmlns:p14="http://schemas.microsoft.com/office/powerpoint/2010/main" val="811451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63923C1-1670-4331-8416-AB007C1E1C72}"/>
              </a:ext>
            </a:extLst>
          </p:cNvPr>
          <p:cNvSpPr txBox="1">
            <a:spLocks/>
          </p:cNvSpPr>
          <p:nvPr/>
        </p:nvSpPr>
        <p:spPr>
          <a:xfrm>
            <a:off x="658495" y="838844"/>
            <a:ext cx="11138535" cy="518031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altLang="en-US" b="1" dirty="0">
                <a:latin typeface="Times New Roman" panose="02020603050405020304" pitchFamily="18" charset="0"/>
                <a:cs typeface="Times New Roman" panose="02020603050405020304" pitchFamily="18" charset="0"/>
              </a:rPr>
              <a:t>Execution:</a:t>
            </a:r>
            <a:endParaRPr lang="en-US" altLang="en-US" sz="2400" b="1"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400" dirty="0">
                <a:latin typeface="Times New Roman" panose="02020603050405020304" pitchFamily="18" charset="0"/>
                <a:cs typeface="Times New Roman" panose="02020603050405020304" pitchFamily="18" charset="0"/>
              </a:rPr>
              <a:t>1. Initialize environment using Python and </a:t>
            </a:r>
            <a:r>
              <a:rPr lang="en-US" altLang="en-US" sz="2400" dirty="0" err="1">
                <a:latin typeface="Times New Roman" panose="02020603050405020304" pitchFamily="18" charset="0"/>
                <a:cs typeface="Times New Roman" panose="02020603050405020304" pitchFamily="18" charset="0"/>
              </a:rPr>
              <a:t>PyTorch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Colab</a:t>
            </a:r>
            <a:r>
              <a:rPr lang="en-US" altLang="en-US" sz="2400" dirty="0">
                <a:latin typeface="Times New Roman" panose="02020603050405020304" pitchFamily="18" charset="0"/>
                <a:cs typeface="Times New Roman" panose="02020603050405020304" pitchFamily="18" charset="0"/>
              </a:rPr>
              <a:t>/Kaggle)</a:t>
            </a:r>
          </a:p>
          <a:p>
            <a:pPr marL="0" indent="0" algn="just">
              <a:lnSpc>
                <a:spcPct val="100000"/>
              </a:lnSpc>
              <a:buNone/>
            </a:pPr>
            <a:r>
              <a:rPr lang="en-US" altLang="en-US" sz="2400" dirty="0">
                <a:latin typeface="Times New Roman" panose="02020603050405020304" pitchFamily="18" charset="0"/>
                <a:cs typeface="Times New Roman" panose="02020603050405020304" pitchFamily="18" charset="0"/>
              </a:rPr>
              <a:t>2. Load ECG data and corresponding labels</a:t>
            </a:r>
          </a:p>
          <a:p>
            <a:pPr marL="0" indent="0" algn="just">
              <a:lnSpc>
                <a:spcPct val="100000"/>
              </a:lnSpc>
              <a:buNone/>
            </a:pPr>
            <a:r>
              <a:rPr lang="en-US" altLang="en-US" sz="2400" dirty="0">
                <a:latin typeface="Times New Roman" panose="02020603050405020304" pitchFamily="18" charset="0"/>
                <a:cs typeface="Times New Roman" panose="02020603050405020304" pitchFamily="18" charset="0"/>
              </a:rPr>
              <a:t>3. Apply preprocessing (R-peak detection, segmentation, normalization)</a:t>
            </a:r>
          </a:p>
          <a:p>
            <a:pPr marL="0" indent="0" algn="just">
              <a:lnSpc>
                <a:spcPct val="100000"/>
              </a:lnSpc>
              <a:buNone/>
            </a:pPr>
            <a:r>
              <a:rPr lang="en-US" altLang="en-US" sz="2400" dirty="0">
                <a:latin typeface="Times New Roman" panose="02020603050405020304" pitchFamily="18" charset="0"/>
                <a:cs typeface="Times New Roman" panose="02020603050405020304" pitchFamily="18" charset="0"/>
              </a:rPr>
              <a:t>4. Convert data into model input format</a:t>
            </a:r>
          </a:p>
          <a:p>
            <a:pPr marL="0" indent="0" algn="just">
              <a:lnSpc>
                <a:spcPct val="100000"/>
              </a:lnSpc>
              <a:buNone/>
            </a:pPr>
            <a:r>
              <a:rPr lang="en-US" altLang="en-US" sz="2400" dirty="0">
                <a:latin typeface="Times New Roman" panose="02020603050405020304" pitchFamily="18" charset="0"/>
                <a:cs typeface="Times New Roman" panose="02020603050405020304" pitchFamily="18" charset="0"/>
              </a:rPr>
              <a:t>5. Initialize CNN–Transformer–Attention model</a:t>
            </a:r>
          </a:p>
          <a:p>
            <a:pPr marL="0" indent="0">
              <a:lnSpc>
                <a:spcPct val="100000"/>
              </a:lnSpc>
              <a:buNone/>
            </a:pPr>
            <a:r>
              <a:rPr lang="en-US" altLang="en-US" sz="2400" dirty="0">
                <a:latin typeface="Times New Roman" panose="02020603050405020304" pitchFamily="18" charset="0"/>
                <a:cs typeface="Times New Roman" panose="02020603050405020304" pitchFamily="18" charset="0"/>
              </a:rPr>
              <a:t>6. </a:t>
            </a:r>
            <a:r>
              <a:rPr lang="en-US" sz="2400" dirty="0">
                <a:latin typeface="Times New Roman" panose="02020603050405020304" pitchFamily="18" charset="0"/>
                <a:cs typeface="Times New Roman" panose="02020603050405020304" pitchFamily="18" charset="0"/>
              </a:rPr>
              <a:t>Train model over multiple epochs</a:t>
            </a:r>
            <a:endParaRPr lang="en-US" altLang="en-US" sz="2400"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400" dirty="0">
                <a:latin typeface="Times New Roman" panose="02020603050405020304" pitchFamily="18" charset="0"/>
                <a:cs typeface="Times New Roman" panose="02020603050405020304" pitchFamily="18" charset="0"/>
              </a:rPr>
              <a:t>7. Test model on unseen ECG samples</a:t>
            </a:r>
          </a:p>
          <a:p>
            <a:pPr marL="0" indent="0" algn="just">
              <a:lnSpc>
                <a:spcPct val="100000"/>
              </a:lnSpc>
              <a:buNone/>
            </a:pPr>
            <a:r>
              <a:rPr lang="en-IN" altLang="en-US" sz="2400" dirty="0">
                <a:latin typeface="Times New Roman" panose="02020603050405020304" pitchFamily="18" charset="0"/>
                <a:cs typeface="Times New Roman" panose="02020603050405020304" pitchFamily="18" charset="0"/>
              </a:rPr>
              <a:t>8</a:t>
            </a:r>
            <a:r>
              <a:rPr lang="en-US" alt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Generate predictions and evaluate results</a:t>
            </a:r>
            <a:endParaRPr lang="en-US" altLang="en-US" sz="2400" dirty="0">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442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29CAB7-D5E4-4F98-9FD7-F4D9F5B9B542}"/>
              </a:ext>
            </a:extLst>
          </p:cNvPr>
          <p:cNvPicPr/>
          <p:nvPr/>
        </p:nvPicPr>
        <p:blipFill rotWithShape="1">
          <a:blip r:embed="rId2"/>
          <a:srcRect l="1348" t="23571" r="49583" b="1"/>
          <a:stretch/>
        </p:blipFill>
        <p:spPr bwMode="auto">
          <a:xfrm>
            <a:off x="1866582" y="898967"/>
            <a:ext cx="3039110" cy="1324280"/>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6F86B4EE-3AB3-45D9-AE74-6592CC707504}"/>
              </a:ext>
            </a:extLst>
          </p:cNvPr>
          <p:cNvPicPr>
            <a:picLocks noChangeAspect="1"/>
          </p:cNvPicPr>
          <p:nvPr/>
        </p:nvPicPr>
        <p:blipFill>
          <a:blip r:embed="rId3"/>
          <a:stretch>
            <a:fillRect/>
          </a:stretch>
        </p:blipFill>
        <p:spPr>
          <a:xfrm>
            <a:off x="6829109" y="898967"/>
            <a:ext cx="3039109" cy="1224291"/>
          </a:xfrm>
          <a:prstGeom prst="rect">
            <a:avLst/>
          </a:prstGeom>
        </p:spPr>
      </p:pic>
      <p:pic>
        <p:nvPicPr>
          <p:cNvPr id="9" name="Picture 6">
            <a:extLst>
              <a:ext uri="{FF2B5EF4-FFF2-40B4-BE49-F238E27FC236}">
                <a16:creationId xmlns:a16="http://schemas.microsoft.com/office/drawing/2014/main" id="{94B1001C-28E5-4BAC-B533-DEA11D02A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9200" y="2762250"/>
            <a:ext cx="4333875" cy="3467100"/>
          </a:xfrm>
          <a:prstGeom prst="rect">
            <a:avLst/>
          </a:prstGeom>
        </p:spPr>
      </p:pic>
      <p:pic>
        <p:nvPicPr>
          <p:cNvPr id="10" name="Picture 12">
            <a:extLst>
              <a:ext uri="{FF2B5EF4-FFF2-40B4-BE49-F238E27FC236}">
                <a16:creationId xmlns:a16="http://schemas.microsoft.com/office/drawing/2014/main" id="{7CCDB88A-DC67-48C6-B35D-D1984869B0FC}"/>
              </a:ext>
            </a:extLst>
          </p:cNvPr>
          <p:cNvPicPr>
            <a:picLocks noChangeAspect="1"/>
          </p:cNvPicPr>
          <p:nvPr/>
        </p:nvPicPr>
        <p:blipFill>
          <a:blip r:embed="rId5"/>
          <a:stretch>
            <a:fillRect/>
          </a:stretch>
        </p:blipFill>
        <p:spPr>
          <a:xfrm>
            <a:off x="6181726" y="2769467"/>
            <a:ext cx="4333876" cy="3459884"/>
          </a:xfrm>
          <a:prstGeom prst="rect">
            <a:avLst/>
          </a:prstGeom>
        </p:spPr>
      </p:pic>
      <p:sp>
        <p:nvSpPr>
          <p:cNvPr id="24" name="Text Box 1">
            <a:extLst>
              <a:ext uri="{FF2B5EF4-FFF2-40B4-BE49-F238E27FC236}">
                <a16:creationId xmlns:a16="http://schemas.microsoft.com/office/drawing/2014/main" id="{DAA9B233-C6D5-4F23-B6B4-0811D9F65869}"/>
              </a:ext>
            </a:extLst>
          </p:cNvPr>
          <p:cNvSpPr txBox="1"/>
          <p:nvPr/>
        </p:nvSpPr>
        <p:spPr>
          <a:xfrm>
            <a:off x="180340" y="143435"/>
            <a:ext cx="4171950" cy="596900"/>
          </a:xfrm>
          <a:prstGeom prst="rect">
            <a:avLst/>
          </a:prstGeom>
          <a:noFill/>
        </p:spPr>
        <p:txBody>
          <a:bodyPr wrap="square" rtlCol="0">
            <a:noAutofit/>
          </a:bodyPr>
          <a:lstStyle/>
          <a:p>
            <a:r>
              <a:rPr lang="en-US" sz="3200" b="1" dirty="0">
                <a:latin typeface="Times New Roman" panose="02020603050405020304" pitchFamily="18" charset="0"/>
                <a:cs typeface="Times New Roman" panose="02020603050405020304" pitchFamily="18" charset="0"/>
              </a:rPr>
              <a:t>Result Obtained</a:t>
            </a:r>
          </a:p>
        </p:txBody>
      </p:sp>
      <p:sp>
        <p:nvSpPr>
          <p:cNvPr id="16" name="TextBox 15">
            <a:extLst>
              <a:ext uri="{FF2B5EF4-FFF2-40B4-BE49-F238E27FC236}">
                <a16:creationId xmlns:a16="http://schemas.microsoft.com/office/drawing/2014/main" id="{E5846EAB-25B8-4AF3-9E6F-17FB35A309EB}"/>
              </a:ext>
            </a:extLst>
          </p:cNvPr>
          <p:cNvSpPr txBox="1"/>
          <p:nvPr/>
        </p:nvSpPr>
        <p:spPr>
          <a:xfrm>
            <a:off x="1991042" y="2169583"/>
            <a:ext cx="2914650" cy="646331"/>
          </a:xfrm>
          <a:prstGeom prst="rect">
            <a:avLst/>
          </a:prstGeom>
          <a:noFill/>
        </p:spPr>
        <p:txBody>
          <a:bodyPr wrap="square" rtlCol="0">
            <a:spAutoFit/>
          </a:bodyPr>
          <a:lstStyle/>
          <a:p>
            <a:r>
              <a:rPr lang="en-IN" altLang="en-US" dirty="0">
                <a:latin typeface="Times New Roman" panose="02020603050405020304" pitchFamily="18" charset="0"/>
                <a:cs typeface="Times New Roman" panose="02020603050405020304" pitchFamily="18" charset="0"/>
              </a:rPr>
              <a:t>Norm after pre-processing</a:t>
            </a:r>
            <a:endParaRPr lang="en-US" altLang="en-US" dirty="0">
              <a:latin typeface="Times New Roman" panose="02020603050405020304" pitchFamily="18" charset="0"/>
              <a:cs typeface="Times New Roman" panose="02020603050405020304" pitchFamily="18" charset="0"/>
            </a:endParaRPr>
          </a:p>
          <a:p>
            <a:endParaRPr lang="en-US" dirty="0"/>
          </a:p>
        </p:txBody>
      </p:sp>
      <p:sp>
        <p:nvSpPr>
          <p:cNvPr id="18" name="Rectangle 17">
            <a:extLst>
              <a:ext uri="{FF2B5EF4-FFF2-40B4-BE49-F238E27FC236}">
                <a16:creationId xmlns:a16="http://schemas.microsoft.com/office/drawing/2014/main" id="{4332B553-8BEA-466D-B54F-FA27E8CD9257}"/>
              </a:ext>
            </a:extLst>
          </p:cNvPr>
          <p:cNvSpPr/>
          <p:nvPr/>
        </p:nvSpPr>
        <p:spPr>
          <a:xfrm>
            <a:off x="7166288" y="2177080"/>
            <a:ext cx="2364750" cy="369332"/>
          </a:xfrm>
          <a:prstGeom prst="rect">
            <a:avLst/>
          </a:prstGeom>
        </p:spPr>
        <p:txBody>
          <a:bodyPr wrap="none">
            <a:spAutoFit/>
          </a:bodyPr>
          <a:lstStyle/>
          <a:p>
            <a:r>
              <a:rPr lang="en-IN" altLang="en-US" dirty="0">
                <a:latin typeface="Times New Roman" panose="02020603050405020304" pitchFamily="18" charset="0"/>
                <a:cs typeface="Times New Roman" panose="02020603050405020304" pitchFamily="18" charset="0"/>
              </a:rPr>
              <a:t>MI after pre-processing</a:t>
            </a:r>
            <a:endParaRPr lang="en-US" altLang="en-US" dirty="0">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92E083CF-20A5-493E-B60F-800056C336A5}"/>
              </a:ext>
            </a:extLst>
          </p:cNvPr>
          <p:cNvSpPr/>
          <p:nvPr/>
        </p:nvSpPr>
        <p:spPr>
          <a:xfrm>
            <a:off x="2123612" y="6229350"/>
            <a:ext cx="2525050" cy="369332"/>
          </a:xfrm>
          <a:prstGeom prst="rect">
            <a:avLst/>
          </a:prstGeom>
        </p:spPr>
        <p:txBody>
          <a:bodyPr wrap="none">
            <a:spAutoFit/>
          </a:bodyPr>
          <a:lstStyle/>
          <a:p>
            <a:r>
              <a:rPr lang="en-US" altLang="en-US" dirty="0">
                <a:latin typeface="Times New Roman" panose="02020603050405020304" pitchFamily="18" charset="0"/>
                <a:cs typeface="Times New Roman" panose="02020603050405020304" pitchFamily="18" charset="0"/>
              </a:rPr>
              <a:t>Confusion matrix of GIN</a:t>
            </a:r>
          </a:p>
        </p:txBody>
      </p:sp>
      <p:sp>
        <p:nvSpPr>
          <p:cNvPr id="28" name="Rectangle 27">
            <a:extLst>
              <a:ext uri="{FF2B5EF4-FFF2-40B4-BE49-F238E27FC236}">
                <a16:creationId xmlns:a16="http://schemas.microsoft.com/office/drawing/2014/main" id="{37B719D7-33EC-4250-9FC5-B4DE2E880F47}"/>
              </a:ext>
            </a:extLst>
          </p:cNvPr>
          <p:cNvSpPr/>
          <p:nvPr/>
        </p:nvSpPr>
        <p:spPr>
          <a:xfrm>
            <a:off x="7086138" y="6183471"/>
            <a:ext cx="2563587" cy="369332"/>
          </a:xfrm>
          <a:prstGeom prst="rect">
            <a:avLst/>
          </a:prstGeom>
        </p:spPr>
        <p:txBody>
          <a:bodyPr wrap="none">
            <a:spAutoFit/>
          </a:bodyPr>
          <a:lstStyle/>
          <a:p>
            <a:r>
              <a:rPr lang="en-US" altLang="en-US" dirty="0">
                <a:latin typeface="Times New Roman" panose="02020603050405020304" pitchFamily="18" charset="0"/>
                <a:cs typeface="Times New Roman" panose="02020603050405020304" pitchFamily="18" charset="0"/>
              </a:rPr>
              <a:t>Confusion matrix of GAT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7F23EF37-19EC-4973-A7AF-4BBF68646D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2266CC12-E63D-4FDA-9EDA-0FBF99CA8233}"/>
              </a:ext>
            </a:extLst>
          </p:cNvPr>
          <p:cNvPicPr>
            <a:picLocks noChangeAspect="1"/>
          </p:cNvPicPr>
          <p:nvPr/>
        </p:nvPicPr>
        <p:blipFill>
          <a:blip r:embed="rId2"/>
          <a:srcRect r="9971" b="-1"/>
          <a:stretch>
            <a:fillRect/>
          </a:stretch>
        </p:blipFill>
        <p:spPr>
          <a:xfrm>
            <a:off x="641276" y="557186"/>
            <a:ext cx="4013020" cy="2228759"/>
          </a:xfrm>
          <a:prstGeom prst="rect">
            <a:avLst/>
          </a:prstGeom>
        </p:spPr>
      </p:pic>
      <p:pic>
        <p:nvPicPr>
          <p:cNvPr id="3" name="Picture 2">
            <a:extLst>
              <a:ext uri="{FF2B5EF4-FFF2-40B4-BE49-F238E27FC236}">
                <a16:creationId xmlns:a16="http://schemas.microsoft.com/office/drawing/2014/main" id="{B52240A3-FB93-418B-AD06-8C587797272D}"/>
              </a:ext>
            </a:extLst>
          </p:cNvPr>
          <p:cNvPicPr>
            <a:picLocks noChangeAspect="1"/>
          </p:cNvPicPr>
          <p:nvPr/>
        </p:nvPicPr>
        <p:blipFill>
          <a:blip r:embed="rId3"/>
          <a:srcRect r="3749" b="2"/>
          <a:stretch>
            <a:fillRect/>
          </a:stretch>
        </p:blipFill>
        <p:spPr>
          <a:xfrm>
            <a:off x="643467" y="2957665"/>
            <a:ext cx="4010830" cy="3343135"/>
          </a:xfrm>
          <a:prstGeom prst="rect">
            <a:avLst/>
          </a:prstGeom>
        </p:spPr>
      </p:pic>
      <p:pic>
        <p:nvPicPr>
          <p:cNvPr id="4" name="Picture 3">
            <a:extLst>
              <a:ext uri="{FF2B5EF4-FFF2-40B4-BE49-F238E27FC236}">
                <a16:creationId xmlns:a16="http://schemas.microsoft.com/office/drawing/2014/main" id="{94726FD0-A8A4-4C26-9524-7826C792EC3E}"/>
              </a:ext>
            </a:extLst>
          </p:cNvPr>
          <p:cNvPicPr>
            <a:picLocks noChangeAspect="1"/>
          </p:cNvPicPr>
          <p:nvPr/>
        </p:nvPicPr>
        <p:blipFill>
          <a:blip r:embed="rId4"/>
          <a:srcRect l="684" r="3932" b="3"/>
          <a:stretch>
            <a:fillRect/>
          </a:stretch>
        </p:blipFill>
        <p:spPr>
          <a:xfrm>
            <a:off x="4846823" y="557189"/>
            <a:ext cx="6701710" cy="5743609"/>
          </a:xfrm>
          <a:prstGeom prst="rect">
            <a:avLst/>
          </a:prstGeom>
        </p:spPr>
      </p:pic>
    </p:spTree>
    <p:extLst>
      <p:ext uri="{BB962C8B-B14F-4D97-AF65-F5344CB8AC3E}">
        <p14:creationId xmlns:p14="http://schemas.microsoft.com/office/powerpoint/2010/main" val="2549068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391159" y="271936"/>
            <a:ext cx="7524003" cy="545465"/>
          </a:xfrm>
          <a:prstGeom prst="rect">
            <a:avLst/>
          </a:prstGeom>
          <a:noFill/>
        </p:spPr>
        <p:txBody>
          <a:bodyPr wrap="square" rtlCol="0">
            <a:noAutofit/>
          </a:bodyPr>
          <a:lstStyle/>
          <a:p>
            <a:r>
              <a:rPr lang="en-US" sz="3200" b="1" dirty="0">
                <a:latin typeface="Times New Roman" panose="02020603050405020304" pitchFamily="18" charset="0"/>
                <a:cs typeface="Times New Roman" panose="02020603050405020304" pitchFamily="18" charset="0"/>
              </a:rPr>
              <a:t>Result Analysis &amp; Observations</a:t>
            </a:r>
          </a:p>
        </p:txBody>
      </p:sp>
      <p:sp>
        <p:nvSpPr>
          <p:cNvPr id="5" name="Text Box 4"/>
          <p:cNvSpPr txBox="1"/>
          <p:nvPr/>
        </p:nvSpPr>
        <p:spPr>
          <a:xfrm>
            <a:off x="200024" y="893378"/>
            <a:ext cx="6857365" cy="2926209"/>
          </a:xfrm>
          <a:prstGeom prst="rect">
            <a:avLst/>
          </a:prstGeom>
          <a:noFill/>
        </p:spPr>
        <p:txBody>
          <a:bodyPr wrap="square" rtlCol="0">
            <a:noAutofit/>
          </a:bodyPr>
          <a:lstStyle/>
          <a:p>
            <a:pPr marL="342900" indent="-34290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proposed model achieved a test accuracy of 97.06%, indicating strong performance in classifying ECG beats into five diagnostic categories.</a:t>
            </a:r>
          </a:p>
          <a:p>
            <a:pPr marL="342900" indent="-34290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training and validation accuracy curves show stable learning, while the loss curves decrease consistently, indicating effective convergence.</a:t>
            </a:r>
          </a:p>
          <a:p>
            <a:pPr marL="342900" indent="-34290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confusion matrix shows that most predictions are correctly classified along the diagonal, with only a few misclassifications between similar ECG classes.</a:t>
            </a:r>
          </a:p>
        </p:txBody>
      </p:sp>
      <p:pic>
        <p:nvPicPr>
          <p:cNvPr id="6" name="Picture 5">
            <a:extLst>
              <a:ext uri="{FF2B5EF4-FFF2-40B4-BE49-F238E27FC236}">
                <a16:creationId xmlns:a16="http://schemas.microsoft.com/office/drawing/2014/main" id="{501297FE-6831-4588-BCB1-6E17A361415C}"/>
              </a:ext>
            </a:extLst>
          </p:cNvPr>
          <p:cNvPicPr>
            <a:picLocks noChangeAspect="1"/>
          </p:cNvPicPr>
          <p:nvPr/>
        </p:nvPicPr>
        <p:blipFill>
          <a:blip r:embed="rId2"/>
          <a:stretch>
            <a:fillRect/>
          </a:stretch>
        </p:blipFill>
        <p:spPr>
          <a:xfrm>
            <a:off x="7195821" y="290884"/>
            <a:ext cx="4657723" cy="3838208"/>
          </a:xfrm>
          <a:prstGeom prst="rect">
            <a:avLst/>
          </a:prstGeom>
        </p:spPr>
      </p:pic>
      <p:sp>
        <p:nvSpPr>
          <p:cNvPr id="2" name="TextBox 1">
            <a:extLst>
              <a:ext uri="{FF2B5EF4-FFF2-40B4-BE49-F238E27FC236}">
                <a16:creationId xmlns:a16="http://schemas.microsoft.com/office/drawing/2014/main" id="{CDD1B4DE-75A3-43D5-88ED-1F1B0FE5F802}"/>
              </a:ext>
            </a:extLst>
          </p:cNvPr>
          <p:cNvSpPr txBox="1"/>
          <p:nvPr/>
        </p:nvSpPr>
        <p:spPr>
          <a:xfrm>
            <a:off x="200024" y="3819587"/>
            <a:ext cx="5885925" cy="2246769"/>
          </a:xfrm>
          <a:prstGeom prst="rect">
            <a:avLst/>
          </a:prstGeom>
          <a:noFill/>
        </p:spPr>
        <p:txBody>
          <a:bodyPr wrap="square" rtlCol="0">
            <a:spAutoFit/>
          </a:bodyPr>
          <a:lstStyle/>
          <a:p>
            <a:pPr marL="342900" indent="-34290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ROC curves and high AUC values confirm that the model has excellent class discrimination capability.</a:t>
            </a:r>
          </a:p>
          <a:p>
            <a:pPr marL="342900" indent="-34290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Overall, the combination of CNN, Transformer Encoder, and Temporal Attention helps the model capture both local waveform features and long-range temporal dependencies effectively.</a:t>
            </a:r>
          </a:p>
        </p:txBody>
      </p:sp>
      <p:pic>
        <p:nvPicPr>
          <p:cNvPr id="7" name="Picture 6">
            <a:extLst>
              <a:ext uri="{FF2B5EF4-FFF2-40B4-BE49-F238E27FC236}">
                <a16:creationId xmlns:a16="http://schemas.microsoft.com/office/drawing/2014/main" id="{E2E2C9F3-466E-4EFC-820B-FA173F7379DB}"/>
              </a:ext>
            </a:extLst>
          </p:cNvPr>
          <p:cNvPicPr>
            <a:picLocks noChangeAspect="1"/>
          </p:cNvPicPr>
          <p:nvPr/>
        </p:nvPicPr>
        <p:blipFill>
          <a:blip r:embed="rId3"/>
          <a:stretch>
            <a:fillRect/>
          </a:stretch>
        </p:blipFill>
        <p:spPr>
          <a:xfrm>
            <a:off x="6224382" y="4116301"/>
            <a:ext cx="5767594" cy="25444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6C11D214-4FFC-44B6-9F70-61493C7F5754}"/>
              </a:ext>
            </a:extLst>
          </p:cNvPr>
          <p:cNvSpPr txBox="1"/>
          <p:nvPr/>
        </p:nvSpPr>
        <p:spPr>
          <a:xfrm>
            <a:off x="768349" y="469900"/>
            <a:ext cx="7524003" cy="545465"/>
          </a:xfrm>
          <a:prstGeom prst="rect">
            <a:avLst/>
          </a:prstGeom>
          <a:noFill/>
        </p:spPr>
        <p:txBody>
          <a:bodyPr wrap="square" rtlCol="0">
            <a:noAutofit/>
          </a:bodyPr>
          <a:lstStyle/>
          <a:p>
            <a:r>
              <a:rPr lang="en-US" sz="3200" b="1" dirty="0">
                <a:latin typeface="Times New Roman" panose="02020603050405020304" pitchFamily="18" charset="0"/>
                <a:cs typeface="Times New Roman" panose="02020603050405020304" pitchFamily="18" charset="0"/>
              </a:rPr>
              <a:t>Conclusion and Future work </a:t>
            </a:r>
          </a:p>
        </p:txBody>
      </p:sp>
      <p:sp>
        <p:nvSpPr>
          <p:cNvPr id="3" name="TextBox 2">
            <a:extLst>
              <a:ext uri="{FF2B5EF4-FFF2-40B4-BE49-F238E27FC236}">
                <a16:creationId xmlns:a16="http://schemas.microsoft.com/office/drawing/2014/main" id="{C8F38683-4240-4F16-AE0D-1B7275B4D183}"/>
              </a:ext>
            </a:extLst>
          </p:cNvPr>
          <p:cNvSpPr txBox="1"/>
          <p:nvPr/>
        </p:nvSpPr>
        <p:spPr>
          <a:xfrm>
            <a:off x="768349" y="1360270"/>
            <a:ext cx="10828020" cy="4893647"/>
          </a:xfrm>
          <a:prstGeom prst="rect">
            <a:avLst/>
          </a:prstGeom>
          <a:noFill/>
        </p:spPr>
        <p:txBody>
          <a:bodyPr wrap="square" rtlCol="0">
            <a:spAutoFit/>
          </a:bodyPr>
          <a:lstStyle/>
          <a:p>
            <a:pPr marL="342900" lvl="0" indent="-342900" algn="just"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proposed model effectively classifies ECG signals using a hybrid approach combining CNN, Transformer Encoder, and Attention. </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It achieves high accuracy by capturing both local waveform features and long-range temporal dependencies. </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use of multi-lead ECG data improves diagnostic performance and classification reliability. </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system can be extended to real-time ECG monitoring using wearable and IoT-based healthcare devices. </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Future improvements include optimizing the model for deployment on mobile or edge devices with reduced computational cost. </a:t>
            </a:r>
          </a:p>
          <a:p>
            <a:pPr marL="342900" lvl="0" indent="-342900" algn="just"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Further research can focus on incorporating explainable AI and expanding the model to detect additional cardiac conditions. </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5762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5011" y="575775"/>
            <a:ext cx="2232212"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References</a:t>
            </a:r>
            <a:endParaRPr lang="en-US" sz="3200" b="1" dirty="0">
              <a:latin typeface="Times New Roman" panose="02020603050405020304" pitchFamily="18" charset="0"/>
              <a:cs typeface="Times New Roman" panose="02020603050405020304" pitchFamily="18" charset="0"/>
            </a:endParaRPr>
          </a:p>
        </p:txBody>
      </p:sp>
      <p:sp>
        <p:nvSpPr>
          <p:cNvPr id="3" name="Rectangle 2"/>
          <p:cNvSpPr/>
          <p:nvPr/>
        </p:nvSpPr>
        <p:spPr>
          <a:xfrm>
            <a:off x="385011" y="1160550"/>
            <a:ext cx="11421977" cy="5115311"/>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[1] S. </a:t>
            </a:r>
            <a:r>
              <a:rPr lang="en-US" sz="2000" dirty="0" err="1">
                <a:latin typeface="Times New Roman" panose="02020603050405020304" pitchFamily="18" charset="0"/>
                <a:cs typeface="Times New Roman" panose="02020603050405020304" pitchFamily="18" charset="0"/>
              </a:rPr>
              <a:t>Vijayarangan</a:t>
            </a:r>
            <a:r>
              <a:rPr lang="en-US" sz="2000" dirty="0">
                <a:latin typeface="Times New Roman" panose="02020603050405020304" pitchFamily="18" charset="0"/>
                <a:cs typeface="Times New Roman" panose="02020603050405020304" pitchFamily="18" charset="0"/>
              </a:rPr>
              <a:t>, B. Murugesan, R. Vignesh, S. </a:t>
            </a:r>
            <a:r>
              <a:rPr lang="en-US" sz="2000" dirty="0" err="1">
                <a:latin typeface="Times New Roman" panose="02020603050405020304" pitchFamily="18" charset="0"/>
                <a:cs typeface="Times New Roman" panose="02020603050405020304" pitchFamily="18" charset="0"/>
              </a:rPr>
              <a:t>Preejith</a:t>
            </a:r>
            <a:r>
              <a:rPr lang="en-US" sz="2000" dirty="0">
                <a:latin typeface="Times New Roman" panose="02020603050405020304" pitchFamily="18" charset="0"/>
                <a:cs typeface="Times New Roman" panose="02020603050405020304" pitchFamily="18" charset="0"/>
              </a:rPr>
              <a:t>, J. Joseph, and M. </a:t>
            </a:r>
            <a:r>
              <a:rPr lang="en-US" sz="2000" dirty="0" err="1">
                <a:latin typeface="Times New Roman" panose="02020603050405020304" pitchFamily="18" charset="0"/>
                <a:cs typeface="Times New Roman" panose="02020603050405020304" pitchFamily="18" charset="0"/>
              </a:rPr>
              <a:t>Sivaprakasam</a:t>
            </a:r>
            <a:r>
              <a:rPr lang="en-US" sz="2000" dirty="0">
                <a:latin typeface="Times New Roman" panose="02020603050405020304" pitchFamily="18" charset="0"/>
                <a:cs typeface="Times New Roman" panose="02020603050405020304" pitchFamily="18" charset="0"/>
              </a:rPr>
              <a:t>, “Interpreting Deep Neural Networks for Single-Lead ECG Arrhythmia Classification.,” Annual International Conference of the IEEE Engineering in Medicine and Biology Society. IEEE Engineering in Medicine and Biology Society. Annual International Conference, vol. 2020, pp. 300–303, Jul. 2020.</a:t>
            </a:r>
          </a:p>
          <a:p>
            <a:pPr algn="just">
              <a:lnSpc>
                <a:spcPct val="150000"/>
              </a:lnSpc>
            </a:pPr>
            <a:r>
              <a:rPr lang="en-US" sz="2000" dirty="0">
                <a:latin typeface="Times New Roman" panose="02020603050405020304" pitchFamily="18" charset="0"/>
                <a:cs typeface="Times New Roman" panose="02020603050405020304" pitchFamily="18" charset="0"/>
              </a:rPr>
              <a:t>[2] P. Madan, V. Singh, D.P. Singh, M. Diwakar, B. Pant, A. Kishor, “A Hybrid Deep Learning Approach for ECG-Based Arrhythmia Classification,” Bioengineering (Basel, Switzerland), vol. 9, p. 152, 2022.</a:t>
            </a:r>
          </a:p>
          <a:p>
            <a:pPr algn="just">
              <a:lnSpc>
                <a:spcPct val="150000"/>
              </a:lnSpc>
            </a:pPr>
            <a:r>
              <a:rPr lang="en-US" sz="2000" dirty="0">
                <a:latin typeface="Times New Roman" panose="02020603050405020304" pitchFamily="18" charset="0"/>
                <a:cs typeface="Times New Roman" panose="02020603050405020304" pitchFamily="18" charset="0"/>
              </a:rPr>
              <a:t>[3] N. </a:t>
            </a:r>
            <a:r>
              <a:rPr lang="en-US" sz="2000" dirty="0" err="1">
                <a:latin typeface="Times New Roman" panose="02020603050405020304" pitchFamily="18" charset="0"/>
                <a:cs typeface="Times New Roman" panose="02020603050405020304" pitchFamily="18" charset="0"/>
              </a:rPr>
              <a:t>Berrahou</a:t>
            </a:r>
            <a:r>
              <a:rPr lang="en-US" sz="2000" dirty="0">
                <a:latin typeface="Times New Roman" panose="02020603050405020304" pitchFamily="18" charset="0"/>
                <a:cs typeface="Times New Roman" panose="02020603050405020304" pitchFamily="18" charset="0"/>
              </a:rPr>
              <a:t>, A. El </a:t>
            </a:r>
            <a:r>
              <a:rPr lang="en-US" sz="2000" dirty="0" err="1">
                <a:latin typeface="Times New Roman" panose="02020603050405020304" pitchFamily="18" charset="0"/>
                <a:cs typeface="Times New Roman" panose="02020603050405020304" pitchFamily="18" charset="0"/>
              </a:rPr>
              <a:t>Alami</a:t>
            </a:r>
            <a:r>
              <a:rPr lang="en-US" sz="2000" dirty="0">
                <a:latin typeface="Times New Roman" panose="02020603050405020304" pitchFamily="18" charset="0"/>
                <a:cs typeface="Times New Roman" panose="02020603050405020304" pitchFamily="18" charset="0"/>
              </a:rPr>
              <a:t>, A. Mesbah, R. El </a:t>
            </a:r>
            <a:r>
              <a:rPr lang="en-US" sz="2000" dirty="0" err="1">
                <a:latin typeface="Times New Roman" panose="02020603050405020304" pitchFamily="18" charset="0"/>
                <a:cs typeface="Times New Roman" panose="02020603050405020304" pitchFamily="18" charset="0"/>
              </a:rPr>
              <a:t>Alami</a:t>
            </a:r>
            <a:r>
              <a:rPr lang="en-US" sz="2000" dirty="0">
                <a:latin typeface="Times New Roman" panose="02020603050405020304" pitchFamily="18" charset="0"/>
                <a:cs typeface="Times New Roman" panose="02020603050405020304" pitchFamily="18" charset="0"/>
              </a:rPr>
              <a:t>, A. </a:t>
            </a:r>
            <a:r>
              <a:rPr lang="en-US" sz="2000" dirty="0" err="1">
                <a:latin typeface="Times New Roman" panose="02020603050405020304" pitchFamily="18" charset="0"/>
                <a:cs typeface="Times New Roman" panose="02020603050405020304" pitchFamily="18" charset="0"/>
              </a:rPr>
              <a:t>Berrahou</a:t>
            </a:r>
            <a:r>
              <a:rPr lang="en-US" sz="2000" dirty="0">
                <a:latin typeface="Times New Roman" panose="02020603050405020304" pitchFamily="18" charset="0"/>
                <a:cs typeface="Times New Roman" panose="02020603050405020304" pitchFamily="18" charset="0"/>
              </a:rPr>
              <a:t>, “Arrhythmia Detection in Inter-Patient ECG Signals Using Entropy Rate Features and RR Intervals with CNN Architecture,” Computer Methods in Biomechanics and Biomedical Engineering, ahead-of-print, pp. 1–20, 2024. </a:t>
            </a:r>
          </a:p>
          <a:p>
            <a:pPr algn="just">
              <a:lnSpc>
                <a:spcPct val="150000"/>
              </a:lnSpc>
            </a:pPr>
            <a:r>
              <a:rPr lang="en-US" sz="2000" dirty="0">
                <a:latin typeface="Times New Roman" panose="02020603050405020304" pitchFamily="18" charset="0"/>
                <a:cs typeface="Times New Roman" panose="02020603050405020304" pitchFamily="18" charset="0"/>
              </a:rPr>
              <a:t>[4] M.R. </a:t>
            </a:r>
            <a:r>
              <a:rPr lang="en-US" sz="2000" dirty="0" err="1">
                <a:latin typeface="Times New Roman" panose="02020603050405020304" pitchFamily="18" charset="0"/>
                <a:cs typeface="Times New Roman" panose="02020603050405020304" pitchFamily="18" charset="0"/>
              </a:rPr>
              <a:t>Fikri</a:t>
            </a:r>
            <a:r>
              <a:rPr lang="en-US" sz="2000" dirty="0">
                <a:latin typeface="Times New Roman" panose="02020603050405020304" pitchFamily="18" charset="0"/>
                <a:cs typeface="Times New Roman" panose="02020603050405020304" pitchFamily="18" charset="0"/>
              </a:rPr>
              <a:t>, I. </a:t>
            </a:r>
            <a:r>
              <a:rPr lang="en-US" sz="2000" dirty="0" err="1">
                <a:latin typeface="Times New Roman" panose="02020603050405020304" pitchFamily="18" charset="0"/>
                <a:cs typeface="Times New Roman" panose="02020603050405020304" pitchFamily="18" charset="0"/>
              </a:rPr>
              <a:t>Soesanti</a:t>
            </a:r>
            <a:r>
              <a:rPr lang="en-US" sz="2000" dirty="0">
                <a:latin typeface="Times New Roman" panose="02020603050405020304" pitchFamily="18" charset="0"/>
                <a:cs typeface="Times New Roman" panose="02020603050405020304" pitchFamily="18" charset="0"/>
              </a:rPr>
              <a:t>, H.A. </a:t>
            </a:r>
            <a:r>
              <a:rPr lang="en-US" sz="2000" dirty="0" err="1">
                <a:latin typeface="Times New Roman" panose="02020603050405020304" pitchFamily="18" charset="0"/>
                <a:cs typeface="Times New Roman" panose="02020603050405020304" pitchFamily="18" charset="0"/>
              </a:rPr>
              <a:t>Nugroho</a:t>
            </a:r>
            <a:r>
              <a:rPr lang="en-US" sz="2000" dirty="0">
                <a:latin typeface="Times New Roman" panose="02020603050405020304" pitchFamily="18" charset="0"/>
                <a:cs typeface="Times New Roman" panose="02020603050405020304" pitchFamily="18" charset="0"/>
              </a:rPr>
              <a:t>, “ECG Signal Classification Review,” International Journal of Information Technology and Electrical Engineering (IJITEE), vol. 5, p. 15, 2021.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8D208-9193-4C83-9724-8481F053416F}"/>
              </a:ext>
            </a:extLst>
          </p:cNvPr>
          <p:cNvSpPr/>
          <p:nvPr/>
        </p:nvSpPr>
        <p:spPr>
          <a:xfrm>
            <a:off x="681789" y="871344"/>
            <a:ext cx="10828421" cy="5115311"/>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[5] A.R. </a:t>
            </a:r>
            <a:r>
              <a:rPr lang="en-US" sz="2000" dirty="0" err="1">
                <a:latin typeface="Times New Roman" panose="02020603050405020304" pitchFamily="18" charset="0"/>
                <a:cs typeface="Times New Roman" panose="02020603050405020304" pitchFamily="18" charset="0"/>
              </a:rPr>
              <a:t>Sajun</a:t>
            </a:r>
            <a:r>
              <a:rPr lang="en-US" sz="2000" dirty="0">
                <a:latin typeface="Times New Roman" panose="02020603050405020304" pitchFamily="18" charset="0"/>
                <a:cs typeface="Times New Roman" panose="02020603050405020304" pitchFamily="18" charset="0"/>
              </a:rPr>
              <a:t>, I. </a:t>
            </a:r>
            <a:r>
              <a:rPr lang="en-US" sz="2000" dirty="0" err="1">
                <a:latin typeface="Times New Roman" panose="02020603050405020304" pitchFamily="18" charset="0"/>
                <a:cs typeface="Times New Roman" panose="02020603050405020304" pitchFamily="18" charset="0"/>
              </a:rPr>
              <a:t>Zualkernan</a:t>
            </a:r>
            <a:r>
              <a:rPr lang="en-US" sz="2000" dirty="0">
                <a:latin typeface="Times New Roman" panose="02020603050405020304" pitchFamily="18" charset="0"/>
                <a:cs typeface="Times New Roman" panose="02020603050405020304" pitchFamily="18" charset="0"/>
              </a:rPr>
              <a:t>, D. </a:t>
            </a:r>
            <a:r>
              <a:rPr lang="en-US" sz="2000" dirty="0" err="1">
                <a:latin typeface="Times New Roman" panose="02020603050405020304" pitchFamily="18" charset="0"/>
                <a:cs typeface="Times New Roman" panose="02020603050405020304" pitchFamily="18" charset="0"/>
              </a:rPr>
              <a:t>Sankalpa</a:t>
            </a:r>
            <a:r>
              <a:rPr lang="en-US" sz="2000" dirty="0">
                <a:latin typeface="Times New Roman" panose="02020603050405020304" pitchFamily="18" charset="0"/>
                <a:cs typeface="Times New Roman" panose="02020603050405020304" pitchFamily="18" charset="0"/>
              </a:rPr>
              <a:t>, “A Historical Survey of Advances in Transformer Architectures,” Applied Sciences, vol. 14, p. 4316, 2024. </a:t>
            </a:r>
          </a:p>
          <a:p>
            <a:pPr algn="just">
              <a:lnSpc>
                <a:spcPct val="150000"/>
              </a:lnSpc>
            </a:pPr>
            <a:r>
              <a:rPr lang="en-US" sz="2000" dirty="0">
                <a:latin typeface="Times New Roman" panose="02020603050405020304" pitchFamily="18" charset="0"/>
                <a:cs typeface="Times New Roman" panose="02020603050405020304" pitchFamily="18" charset="0"/>
              </a:rPr>
              <a:t>[6] S.R. Choi, M. Lee, “Transformer Architecture and Attention Mechanisms in Genome Data Analysis: A Comprehensive Review,” Biology, vol. 12, p. 1033, 2023.</a:t>
            </a:r>
          </a:p>
          <a:p>
            <a:pPr algn="just">
              <a:lnSpc>
                <a:spcPct val="150000"/>
              </a:lnSpc>
            </a:pPr>
            <a:r>
              <a:rPr lang="en-US" sz="2000" dirty="0">
                <a:latin typeface="Times New Roman" panose="02020603050405020304" pitchFamily="18" charset="0"/>
                <a:cs typeface="Times New Roman" panose="02020603050405020304" pitchFamily="18" charset="0"/>
              </a:rPr>
              <a:t>[7] H. Mansour, M. </a:t>
            </a:r>
            <a:r>
              <a:rPr lang="en-US" sz="2000" dirty="0" err="1">
                <a:latin typeface="Times New Roman" panose="02020603050405020304" pitchFamily="18" charset="0"/>
                <a:cs typeface="Times New Roman" panose="02020603050405020304" pitchFamily="18" charset="0"/>
              </a:rPr>
              <a:t>Valizadeh</a:t>
            </a:r>
            <a:r>
              <a:rPr lang="en-US" sz="2000" dirty="0">
                <a:latin typeface="Times New Roman" panose="02020603050405020304" pitchFamily="18" charset="0"/>
                <a:cs typeface="Times New Roman" panose="02020603050405020304" pitchFamily="18" charset="0"/>
              </a:rPr>
              <a:t>, A. </a:t>
            </a:r>
            <a:r>
              <a:rPr lang="en-US" sz="2000" dirty="0" err="1">
                <a:latin typeface="Times New Roman" panose="02020603050405020304" pitchFamily="18" charset="0"/>
                <a:cs typeface="Times New Roman" panose="02020603050405020304" pitchFamily="18" charset="0"/>
              </a:rPr>
              <a:t>Abdulaal</a:t>
            </a:r>
            <a:r>
              <a:rPr lang="en-US" sz="2000" dirty="0">
                <a:latin typeface="Times New Roman" panose="02020603050405020304" pitchFamily="18" charset="0"/>
                <a:cs typeface="Times New Roman" panose="02020603050405020304" pitchFamily="18" charset="0"/>
              </a:rPr>
              <a:t>, M. </a:t>
            </a:r>
            <a:r>
              <a:rPr lang="en-US" sz="2000" dirty="0" err="1">
                <a:latin typeface="Times New Roman" panose="02020603050405020304" pitchFamily="18" charset="0"/>
                <a:cs typeface="Times New Roman" panose="02020603050405020304" pitchFamily="18" charset="0"/>
              </a:rPr>
              <a:t>Amirani</a:t>
            </a:r>
            <a:r>
              <a:rPr lang="en-US" sz="2000" dirty="0">
                <a:latin typeface="Times New Roman" panose="02020603050405020304" pitchFamily="18" charset="0"/>
                <a:cs typeface="Times New Roman" panose="02020603050405020304" pitchFamily="18" charset="0"/>
              </a:rPr>
              <a:t>, “Enhanced Electrocardiogram Arrhythmia Diagnosis with Deep Learning and Selective Attention Mechanism,” Advances in Technology Innovation, vol. 10, pp. 102–117, 2025.</a:t>
            </a:r>
          </a:p>
          <a:p>
            <a:pPr algn="just">
              <a:lnSpc>
                <a:spcPct val="150000"/>
              </a:lnSpc>
            </a:pPr>
            <a:r>
              <a:rPr lang="en-US" sz="2000" dirty="0">
                <a:latin typeface="Times New Roman" panose="02020603050405020304" pitchFamily="18" charset="0"/>
                <a:cs typeface="Times New Roman" panose="02020603050405020304" pitchFamily="18" charset="0"/>
              </a:rPr>
              <a:t>[8] A. Natarajan, Y. Chang, S. </a:t>
            </a:r>
            <a:r>
              <a:rPr lang="en-US" sz="2000" dirty="0" err="1">
                <a:latin typeface="Times New Roman" panose="02020603050405020304" pitchFamily="18" charset="0"/>
                <a:cs typeface="Times New Roman" panose="02020603050405020304" pitchFamily="18" charset="0"/>
              </a:rPr>
              <a:t>Mariani</a:t>
            </a:r>
            <a:r>
              <a:rPr lang="en-US" sz="2000" dirty="0">
                <a:latin typeface="Times New Roman" panose="02020603050405020304" pitchFamily="18" charset="0"/>
                <a:cs typeface="Times New Roman" panose="02020603050405020304" pitchFamily="18" charset="0"/>
              </a:rPr>
              <a:t>, A. Rahman, G. </a:t>
            </a:r>
            <a:r>
              <a:rPr lang="en-US" sz="2000" dirty="0" err="1">
                <a:latin typeface="Times New Roman" panose="02020603050405020304" pitchFamily="18" charset="0"/>
                <a:cs typeface="Times New Roman" panose="02020603050405020304" pitchFamily="18" charset="0"/>
              </a:rPr>
              <a:t>Boverman</a:t>
            </a:r>
            <a:r>
              <a:rPr lang="en-US" sz="2000" dirty="0">
                <a:latin typeface="Times New Roman" panose="02020603050405020304" pitchFamily="18" charset="0"/>
                <a:cs typeface="Times New Roman" panose="02020603050405020304" pitchFamily="18" charset="0"/>
              </a:rPr>
              <a:t>, S. </a:t>
            </a:r>
            <a:r>
              <a:rPr lang="en-US" sz="2000" dirty="0" err="1">
                <a:latin typeface="Times New Roman" panose="02020603050405020304" pitchFamily="18" charset="0"/>
                <a:cs typeface="Times New Roman" panose="02020603050405020304" pitchFamily="18" charset="0"/>
              </a:rPr>
              <a:t>Vij</a:t>
            </a:r>
            <a:r>
              <a:rPr lang="en-US" sz="2000" dirty="0">
                <a:latin typeface="Times New Roman" panose="02020603050405020304" pitchFamily="18" charset="0"/>
                <a:cs typeface="Times New Roman" panose="02020603050405020304" pitchFamily="18" charset="0"/>
              </a:rPr>
              <a:t>, J. Rubin, “A Wide and Deep Transformer Neural Network for 12-Lead ECG Classification,” Presented at Computing in Cardiology Conference (</a:t>
            </a:r>
            <a:r>
              <a:rPr lang="en-US" sz="2000" dirty="0" err="1">
                <a:latin typeface="Times New Roman" panose="02020603050405020304" pitchFamily="18" charset="0"/>
                <a:cs typeface="Times New Roman" panose="02020603050405020304" pitchFamily="18" charset="0"/>
              </a:rPr>
              <a:t>CinC</a:t>
            </a:r>
            <a:r>
              <a:rPr lang="en-US" sz="2000" dirty="0">
                <a:latin typeface="Times New Roman" panose="02020603050405020304" pitchFamily="18" charset="0"/>
                <a:cs typeface="Times New Roman" panose="02020603050405020304" pitchFamily="18" charset="0"/>
              </a:rPr>
              <a:t>), Dec. 30, 2020.</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32700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2313</Words>
  <Application>Microsoft Office PowerPoint</Application>
  <PresentationFormat>Widescreen</PresentationFormat>
  <Paragraphs>248</Paragraphs>
  <Slides>21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SimSun</vt:lpstr>
      <vt:lpstr>Arial</vt:lpstr>
      <vt:lpstr>Batang</vt:lpstr>
      <vt:lpstr>Calibri</vt:lpstr>
      <vt:lpstr>Calibri Light</vt:lpstr>
      <vt:lpstr>Cambria Math</vt:lpstr>
      <vt:lpstr>等线</vt:lpstr>
      <vt:lpstr>MS Mincho</vt:lpstr>
      <vt:lpstr>Times New Roman</vt:lpstr>
      <vt:lpstr>Office Theme</vt:lpstr>
      <vt:lpstr>  An Attention-Based CNN-Transformer Network for ECG Beat Classification Using Multi-Lead Signals</vt:lpstr>
      <vt:lpstr>Agenda</vt:lpstr>
      <vt:lpstr>PowerPoint Presentation</vt:lpstr>
      <vt:lpstr>PowerPoint Presentation</vt:lpstr>
      <vt:lpstr>PowerPoint Presentation</vt:lpstr>
      <vt:lpstr>PowerPoint Presentation</vt:lpstr>
      <vt:lpstr>PowerPoint Presentation</vt:lpstr>
      <vt:lpstr>Datasets and Requirements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Supraja Potluri</dc:creator>
  <cp:lastModifiedBy>Supraja Potluri</cp:lastModifiedBy>
  <cp:revision>20</cp:revision>
  <dcterms:created xsi:type="dcterms:W3CDTF">2025-03-07T07:22:00Z</dcterms:created>
  <dcterms:modified xsi:type="dcterms:W3CDTF">2026-04-20T17:33:39Z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A8A45C3D1586481BA215122844C02A18_13</vt:lpwstr>
  </property>
  <property fmtid="{D5CDD505-2E9C-101B-9397-08002B2CF9AE}" pid="3" name="KSOProductBuildVer">
    <vt:lpwstr>1033-12.2.0.23196</vt:lpwstr>
  </property>
</Properties>
</file>